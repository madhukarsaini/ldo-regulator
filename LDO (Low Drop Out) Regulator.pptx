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y="5143500" cx="9144000"/>
  <p:notesSz cx="6858000" cy="9144000"/>
  <p:embeddedFontLst>
    <p:embeddedFont>
      <p:font typeface="EB Garamond"/>
      <p:regular r:id="rId42"/>
      <p:bold r:id="rId43"/>
      <p:italic r:id="rId44"/>
      <p:boldItalic r:id="rId4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4AF90D8-A1AD-49EF-83C1-0F66BF936D3D}">
  <a:tblStyle styleId="{24AF90D8-A1AD-49EF-83C1-0F66BF936D3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4EE6A64B-CE49-4A75-95DF-23353274CF2F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font" Target="fonts/EBGaramond-regular.fntdata"/><Relationship Id="rId41" Type="http://schemas.openxmlformats.org/officeDocument/2006/relationships/slide" Target="slides/slide35.xml"/><Relationship Id="rId22" Type="http://schemas.openxmlformats.org/officeDocument/2006/relationships/slide" Target="slides/slide16.xml"/><Relationship Id="rId44" Type="http://schemas.openxmlformats.org/officeDocument/2006/relationships/font" Target="fonts/EBGaramond-italic.fntdata"/><Relationship Id="rId21" Type="http://schemas.openxmlformats.org/officeDocument/2006/relationships/slide" Target="slides/slide15.xml"/><Relationship Id="rId43" Type="http://schemas.openxmlformats.org/officeDocument/2006/relationships/font" Target="fonts/EBGaramond-bold.fntdata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45" Type="http://schemas.openxmlformats.org/officeDocument/2006/relationships/font" Target="fonts/EBGaramond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a65a3b16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fa65a3b16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fa6cbfadaa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fa6cbfadaa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fa65a3b161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fa65a3b161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a6cbfadaa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fa6cbfadaa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409c7c1d6ef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409c7c1d6ef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409c7c1d6ef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409c7c1d6ef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7a466c2f4e288abb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7a466c2f4e288abb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7a466c2f4e288abb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7a466c2f4e288abb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7a466c2f4e288abb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7a466c2f4e288abb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7a466c2f4e288abb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7a466c2f4e288abb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7a466c2f4e288abb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7a466c2f4e288abb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7a466c2f4e288abb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7a466c2f4e288abb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fa8409a06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fa8409a06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6a19840407f5449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6a19840407f5449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7a466c2f4e288abb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7a466c2f4e288abb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b7b19937f6f0163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b7b19937f6f0163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b7b19937f6f0163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b7b19937f6f0163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b7b19937f6f0163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3b7b19937f6f0163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b7b19937f6f0163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b7b19937f6f0163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7a466c2f4e288abb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7a466c2f4e288abb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b7b19937f6f0163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b7b19937f6f0163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7a466c2f4e288abb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7a466c2f4e288abb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7a466c2f4e288abb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7a466c2f4e288abb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4068cca72bfe2f0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4068cca72bfe2f0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4068cca72bfe2f0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4068cca72bfe2f0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7a466c2f4e288abb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7a466c2f4e288abb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6a19840407f54492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6a19840407f54492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4068cca72bfe2f0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4068cca72bfe2f0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7a466c2f4e288abb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7a466c2f4e288abb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6a19840407f5449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6a19840407f5449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6a19840407f5449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6a19840407f5449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7a466c2f4e288abb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7a466c2f4e288abb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h1de7423ad77bcb9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h1de7423ad77bcb9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40a1b00e996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40a1b00e996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2.png"/><Relationship Id="rId4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png"/><Relationship Id="rId4" Type="http://schemas.openxmlformats.org/officeDocument/2006/relationships/image" Target="../media/image1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1.png"/><Relationship Id="rId4" Type="http://schemas.openxmlformats.org/officeDocument/2006/relationships/image" Target="../media/image13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5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9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2.png"/><Relationship Id="rId4" Type="http://schemas.openxmlformats.org/officeDocument/2006/relationships/image" Target="../media/image23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8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8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LDO (Low Drop Out) Regulator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5405175" y="3598550"/>
            <a:ext cx="29847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Presented By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Madhukar Saini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3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Circuit - LDO regulator</a:t>
            </a:r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311700" y="1423100"/>
            <a:ext cx="4576200" cy="19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Error Amplifier forces both of its inputs to be the same, resulting the current adjustment in pass transistor.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			</a:t>
            </a:r>
            <a:r>
              <a:rPr lang="en">
                <a:solidFill>
                  <a:schemeClr val="dk1"/>
                </a:solidFill>
                <a:latin typeface="EB Garamond"/>
                <a:ea typeface="EB Garamond"/>
                <a:cs typeface="EB Garamond"/>
                <a:sym typeface="EB Garamond"/>
              </a:rPr>
              <a:t>I</a:t>
            </a:r>
            <a:r>
              <a:rPr lang="en">
                <a:solidFill>
                  <a:schemeClr val="dk1"/>
                </a:solidFill>
              </a:rPr>
              <a:t> = Vfb (approx. Vref)/RFB2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311700" y="3061400"/>
            <a:ext cx="7825500" cy="13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Here Pass Transistor current can be adjusted through </a:t>
            </a:r>
            <a:r>
              <a:rPr lang="en">
                <a:solidFill>
                  <a:schemeClr val="dk1"/>
                </a:solidFill>
              </a:rPr>
              <a:t>Error</a:t>
            </a:r>
            <a:r>
              <a:rPr lang="en">
                <a:solidFill>
                  <a:schemeClr val="dk1"/>
                </a:solidFill>
              </a:rPr>
              <a:t> Amplifier output voltage </a:t>
            </a:r>
            <a:r>
              <a:rPr lang="en">
                <a:solidFill>
                  <a:schemeClr val="dk1"/>
                </a:solidFill>
              </a:rPr>
              <a:t>to make </a:t>
            </a:r>
            <a:r>
              <a:rPr lang="en">
                <a:solidFill>
                  <a:schemeClr val="dk1"/>
                </a:solidFill>
              </a:rPr>
              <a:t>Vfb = Vref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To give Vfb = V</a:t>
            </a:r>
            <a:r>
              <a:rPr lang="en">
                <a:solidFill>
                  <a:schemeClr val="dk1"/>
                </a:solidFill>
              </a:rPr>
              <a:t>ref</a:t>
            </a:r>
            <a:r>
              <a:rPr lang="en">
                <a:solidFill>
                  <a:schemeClr val="dk1"/>
                </a:solidFill>
              </a:rPr>
              <a:t> we will choose RFB2 = Vref/</a:t>
            </a:r>
            <a:r>
              <a:rPr lang="en">
                <a:solidFill>
                  <a:schemeClr val="dk1"/>
                </a:solidFill>
                <a:latin typeface="EB Garamond"/>
                <a:ea typeface="EB Garamond"/>
                <a:cs typeface="EB Garamond"/>
                <a:sym typeface="EB Garamond"/>
              </a:rPr>
              <a:t>I</a:t>
            </a:r>
            <a:r>
              <a:rPr lang="en">
                <a:solidFill>
                  <a:schemeClr val="dk1"/>
                </a:solidFill>
              </a:rPr>
              <a:t> and RFB1 = (VOUT - Vref)/</a:t>
            </a:r>
            <a:r>
              <a:rPr lang="en">
                <a:solidFill>
                  <a:schemeClr val="dk1"/>
                </a:solidFill>
                <a:latin typeface="EB Garamond"/>
                <a:ea typeface="EB Garamond"/>
                <a:cs typeface="EB Garamond"/>
                <a:sym typeface="EB Garamond"/>
              </a:rPr>
              <a:t>I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09651" y="802725"/>
            <a:ext cx="3260376" cy="22586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4" name="Google Shape;64;p14"/>
          <p:cNvCxnSpPr/>
          <p:nvPr/>
        </p:nvCxnSpPr>
        <p:spPr>
          <a:xfrm>
            <a:off x="6552675" y="2125125"/>
            <a:ext cx="17700" cy="2733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65" name="Google Shape;65;p14"/>
          <p:cNvSpPr txBox="1"/>
          <p:nvPr/>
        </p:nvSpPr>
        <p:spPr>
          <a:xfrm>
            <a:off x="6513000" y="2156025"/>
            <a:ext cx="185100" cy="2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EB Garamond"/>
                <a:ea typeface="EB Garamond"/>
                <a:cs typeface="EB Garamond"/>
                <a:sym typeface="EB Garamond"/>
              </a:rPr>
              <a:t>I</a:t>
            </a:r>
            <a:endParaRPr sz="1000">
              <a:solidFill>
                <a:schemeClr val="dk2"/>
              </a:solidFill>
              <a:latin typeface="EB Garamond"/>
              <a:ea typeface="EB Garamond"/>
              <a:cs typeface="EB Garamond"/>
              <a:sym typeface="EB Garamon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11700" y="3210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PMOS Error Amplifier will not work?</a:t>
            </a:r>
            <a:endParaRPr/>
          </a:p>
        </p:txBody>
      </p:sp>
      <p:pic>
        <p:nvPicPr>
          <p:cNvPr id="71" name="Google Shape;7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8350" y="982050"/>
            <a:ext cx="5664221" cy="3820976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5"/>
          <p:cNvSpPr/>
          <p:nvPr/>
        </p:nvSpPr>
        <p:spPr>
          <a:xfrm>
            <a:off x="3391146" y="3748102"/>
            <a:ext cx="2986150" cy="1241100"/>
          </a:xfrm>
          <a:custGeom>
            <a:rect b="b" l="l" r="r" t="t"/>
            <a:pathLst>
              <a:path extrusionOk="0" h="49644" w="119446">
                <a:moveTo>
                  <a:pt x="115887" y="24088"/>
                </a:moveTo>
                <a:cubicBezTo>
                  <a:pt x="115887" y="18814"/>
                  <a:pt x="118042" y="11683"/>
                  <a:pt x="113924" y="8388"/>
                </a:cubicBezTo>
                <a:cubicBezTo>
                  <a:pt x="100583" y="-2285"/>
                  <a:pt x="80310" y="865"/>
                  <a:pt x="63225" y="865"/>
                </a:cubicBezTo>
                <a:cubicBezTo>
                  <a:pt x="46956" y="865"/>
                  <a:pt x="29721" y="-2234"/>
                  <a:pt x="14489" y="3482"/>
                </a:cubicBezTo>
                <a:cubicBezTo>
                  <a:pt x="5130" y="6994"/>
                  <a:pt x="-2859" y="21116"/>
                  <a:pt x="1078" y="30303"/>
                </a:cubicBezTo>
                <a:cubicBezTo>
                  <a:pt x="5574" y="40795"/>
                  <a:pt x="20841" y="43153"/>
                  <a:pt x="32151" y="44695"/>
                </a:cubicBezTo>
                <a:cubicBezTo>
                  <a:pt x="52718" y="47499"/>
                  <a:pt x="73750" y="51554"/>
                  <a:pt x="94299" y="48620"/>
                </a:cubicBezTo>
                <a:cubicBezTo>
                  <a:pt x="101604" y="47577"/>
                  <a:pt x="110508" y="47091"/>
                  <a:pt x="115233" y="41424"/>
                </a:cubicBezTo>
                <a:cubicBezTo>
                  <a:pt x="119493" y="36315"/>
                  <a:pt x="121869" y="23580"/>
                  <a:pt x="115560" y="21471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73" name="Google Shape;73;p15"/>
          <p:cNvSpPr txBox="1"/>
          <p:nvPr/>
        </p:nvSpPr>
        <p:spPr>
          <a:xfrm>
            <a:off x="7024225" y="3184400"/>
            <a:ext cx="1943700" cy="994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For our input reference Voltage </a:t>
            </a:r>
            <a:r>
              <a:rPr lang="en">
                <a:solidFill>
                  <a:schemeClr val="dk1"/>
                </a:solidFill>
              </a:rPr>
              <a:t>the input Transistor (M1) itself won't turn ON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4926255" y="2039179"/>
            <a:ext cx="907750" cy="444575"/>
          </a:xfrm>
          <a:custGeom>
            <a:rect b="b" l="l" r="r" t="t"/>
            <a:pathLst>
              <a:path extrusionOk="0" h="17783" w="36310">
                <a:moveTo>
                  <a:pt x="36311" y="3420"/>
                </a:moveTo>
                <a:cubicBezTo>
                  <a:pt x="33818" y="-320"/>
                  <a:pt x="27704" y="233"/>
                  <a:pt x="23209" y="233"/>
                </a:cubicBezTo>
                <a:cubicBezTo>
                  <a:pt x="17532" y="233"/>
                  <a:pt x="11526" y="-698"/>
                  <a:pt x="6211" y="1296"/>
                </a:cubicBezTo>
                <a:cubicBezTo>
                  <a:pt x="1958" y="2892"/>
                  <a:pt x="-1143" y="9473"/>
                  <a:pt x="545" y="13690"/>
                </a:cubicBezTo>
                <a:cubicBezTo>
                  <a:pt x="4943" y="24675"/>
                  <a:pt x="42553" y="10725"/>
                  <a:pt x="34186" y="2358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75" name="Google Shape;75;p15"/>
          <p:cNvCxnSpPr/>
          <p:nvPr/>
        </p:nvCxnSpPr>
        <p:spPr>
          <a:xfrm flipH="1" rot="10800000">
            <a:off x="5816325" y="1611225"/>
            <a:ext cx="1221600" cy="5223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6" name="Google Shape;76;p15"/>
          <p:cNvSpPr txBox="1"/>
          <p:nvPr/>
        </p:nvSpPr>
        <p:spPr>
          <a:xfrm>
            <a:off x="7024225" y="1221725"/>
            <a:ext cx="1885500" cy="994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Assuming Vov of this PMOS is 0.2V which is making Vx=1.5V for 1.7V VDD</a:t>
            </a:r>
            <a:endParaRPr/>
          </a:p>
        </p:txBody>
      </p:sp>
      <p:cxnSp>
        <p:nvCxnSpPr>
          <p:cNvPr id="77" name="Google Shape;77;p15"/>
          <p:cNvCxnSpPr>
            <a:endCxn id="73" idx="1"/>
          </p:cNvCxnSpPr>
          <p:nvPr/>
        </p:nvCxnSpPr>
        <p:spPr>
          <a:xfrm flipH="1" rot="10800000">
            <a:off x="6276625" y="3681500"/>
            <a:ext cx="747600" cy="4971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2651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Proposed LDO</a:t>
            </a:r>
            <a:endParaRPr/>
          </a:p>
        </p:txBody>
      </p:sp>
      <p:pic>
        <p:nvPicPr>
          <p:cNvPr id="83" name="Google Shape;8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3775" y="895075"/>
            <a:ext cx="5890599" cy="373022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/>
          <p:cNvSpPr/>
          <p:nvPr/>
        </p:nvSpPr>
        <p:spPr>
          <a:xfrm>
            <a:off x="4281462" y="2599097"/>
            <a:ext cx="1007225" cy="914375"/>
          </a:xfrm>
          <a:custGeom>
            <a:rect b="b" l="l" r="r" t="t"/>
            <a:pathLst>
              <a:path extrusionOk="0" h="36575" w="40289">
                <a:moveTo>
                  <a:pt x="30884" y="4630"/>
                </a:moveTo>
                <a:cubicBezTo>
                  <a:pt x="29080" y="1022"/>
                  <a:pt x="23401" y="1448"/>
                  <a:pt x="19436" y="705"/>
                </a:cubicBezTo>
                <a:cubicBezTo>
                  <a:pt x="14221" y="-272"/>
                  <a:pt x="7188" y="-706"/>
                  <a:pt x="3735" y="3322"/>
                </a:cubicBezTo>
                <a:cubicBezTo>
                  <a:pt x="-2550" y="10653"/>
                  <a:pt x="-414" y="25926"/>
                  <a:pt x="7006" y="32106"/>
                </a:cubicBezTo>
                <a:cubicBezTo>
                  <a:pt x="10136" y="34713"/>
                  <a:pt x="14725" y="35008"/>
                  <a:pt x="18782" y="35377"/>
                </a:cubicBezTo>
                <a:cubicBezTo>
                  <a:pt x="25341" y="35973"/>
                  <a:pt x="34917" y="38673"/>
                  <a:pt x="38407" y="33087"/>
                </a:cubicBezTo>
                <a:cubicBezTo>
                  <a:pt x="43942" y="24227"/>
                  <a:pt x="35987" y="10703"/>
                  <a:pt x="28594" y="3322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85" name="Google Shape;85;p16"/>
          <p:cNvCxnSpPr/>
          <p:nvPr/>
        </p:nvCxnSpPr>
        <p:spPr>
          <a:xfrm flipH="1" rot="10800000">
            <a:off x="5159850" y="1310225"/>
            <a:ext cx="1647900" cy="1560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6" name="Google Shape;86;p16"/>
          <p:cNvSpPr/>
          <p:nvPr/>
        </p:nvSpPr>
        <p:spPr>
          <a:xfrm>
            <a:off x="5605851" y="2372550"/>
            <a:ext cx="86500" cy="174550"/>
          </a:xfrm>
          <a:custGeom>
            <a:rect b="b" l="l" r="r" t="t"/>
            <a:pathLst>
              <a:path extrusionOk="0" h="6982" w="3460">
                <a:moveTo>
                  <a:pt x="3461" y="0"/>
                </a:moveTo>
                <a:cubicBezTo>
                  <a:pt x="1473" y="1327"/>
                  <a:pt x="-930" y="5295"/>
                  <a:pt x="982" y="6729"/>
                </a:cubicBezTo>
                <a:cubicBezTo>
                  <a:pt x="2334" y="7743"/>
                  <a:pt x="3614" y="2398"/>
                  <a:pt x="2045" y="1771"/>
                </a:cubicBezTo>
                <a:cubicBezTo>
                  <a:pt x="659" y="1217"/>
                  <a:pt x="-820" y="5658"/>
                  <a:pt x="628" y="6020"/>
                </a:cubicBezTo>
                <a:cubicBezTo>
                  <a:pt x="1684" y="6284"/>
                  <a:pt x="2266" y="4515"/>
                  <a:pt x="2753" y="3542"/>
                </a:cubicBezTo>
              </a:path>
            </a:pathLst>
          </a:cu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87" name="Google Shape;87;p16"/>
          <p:cNvCxnSpPr/>
          <p:nvPr/>
        </p:nvCxnSpPr>
        <p:spPr>
          <a:xfrm>
            <a:off x="5710200" y="2494000"/>
            <a:ext cx="1291500" cy="8721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8" name="Google Shape;88;p16"/>
          <p:cNvSpPr txBox="1"/>
          <p:nvPr/>
        </p:nvSpPr>
        <p:spPr>
          <a:xfrm>
            <a:off x="7001700" y="2992175"/>
            <a:ext cx="1752900" cy="1267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Since M</a:t>
            </a:r>
            <a:r>
              <a:rPr lang="en" sz="600">
                <a:solidFill>
                  <a:schemeClr val="dk1"/>
                </a:solidFill>
              </a:rPr>
              <a:t>PASS</a:t>
            </a:r>
            <a:r>
              <a:rPr lang="en" sz="1200">
                <a:solidFill>
                  <a:schemeClr val="dk1"/>
                </a:solidFill>
              </a:rPr>
              <a:t> transistor’s Current vary too much with the load, we need a high swing at the gate, so we are going with this </a:t>
            </a:r>
            <a:r>
              <a:rPr lang="en" sz="1200">
                <a:solidFill>
                  <a:schemeClr val="dk1"/>
                </a:solidFill>
              </a:rPr>
              <a:t>architecture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6807750" y="503225"/>
            <a:ext cx="1912500" cy="1637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CD was introduced which will introduce a zero in LHP which will help to increase Phase Margin by avoiding low frequency pole that caused by Mpass as it has high capacitance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Specifications</a:t>
            </a:r>
            <a:endParaRPr/>
          </a:p>
        </p:txBody>
      </p:sp>
      <p:sp>
        <p:nvSpPr>
          <p:cNvPr id="95" name="Google Shape;95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Output voltage 1.5V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Input voltage from 1.7V to 2V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I</a:t>
            </a:r>
            <a:r>
              <a:rPr lang="en" sz="1500">
                <a:solidFill>
                  <a:schemeClr val="dk1"/>
                </a:solidFill>
              </a:rPr>
              <a:t>nput reference voltage 1.2V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Load current from 10µA to 1mA with 10%error (i.e. 9µA to 1.1mA)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Fastest change in load current 1µs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Output capacitor of 1µF with 20% error (i.e. 0.8µF to 1.2µF)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Temperature in range −40</a:t>
            </a:r>
            <a:r>
              <a:rPr lang="en">
                <a:solidFill>
                  <a:schemeClr val="dk1"/>
                </a:solidFill>
              </a:rPr>
              <a:t>℃</a:t>
            </a:r>
            <a:r>
              <a:rPr lang="en" sz="1500">
                <a:solidFill>
                  <a:schemeClr val="dk1"/>
                </a:solidFill>
              </a:rPr>
              <a:t> to 125</a:t>
            </a:r>
            <a:r>
              <a:rPr lang="en">
                <a:solidFill>
                  <a:schemeClr val="dk1"/>
                </a:solidFill>
              </a:rPr>
              <a:t>℃</a:t>
            </a:r>
            <a:endParaRPr sz="19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Maximum quiescent current 10µA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" sz="1500">
                <a:solidFill>
                  <a:schemeClr val="dk1"/>
                </a:solidFill>
              </a:rPr>
              <a:t>Biasing current of 100nA</a:t>
            </a:r>
            <a:endParaRPr sz="15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8"/>
          <p:cNvSpPr txBox="1"/>
          <p:nvPr>
            <p:ph type="title"/>
          </p:nvPr>
        </p:nvSpPr>
        <p:spPr>
          <a:xfrm>
            <a:off x="270825" y="2651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Current distribution in accordance with </a:t>
            </a:r>
            <a:r>
              <a:rPr lang="en" sz="2700"/>
              <a:t>quiescent current</a:t>
            </a:r>
            <a:endParaRPr sz="2700"/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7425" y="976850"/>
            <a:ext cx="6358577" cy="3921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/>
          <p:nvPr>
            <p:ph type="title"/>
          </p:nvPr>
        </p:nvSpPr>
        <p:spPr>
          <a:xfrm>
            <a:off x="409825" y="224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size calculation</a:t>
            </a:r>
            <a:endParaRPr/>
          </a:p>
        </p:txBody>
      </p:sp>
      <p:sp>
        <p:nvSpPr>
          <p:cNvPr id="107" name="Google Shape;107;p19"/>
          <p:cNvSpPr txBox="1"/>
          <p:nvPr/>
        </p:nvSpPr>
        <p:spPr>
          <a:xfrm>
            <a:off x="957875" y="1033925"/>
            <a:ext cx="6546900" cy="33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Here:</a:t>
            </a:r>
            <a:br>
              <a:rPr b="1" lang="en" sz="1200">
                <a:solidFill>
                  <a:schemeClr val="dk1"/>
                </a:solidFill>
              </a:rPr>
            </a:br>
            <a:r>
              <a:rPr lang="en" sz="1200">
                <a:solidFill>
                  <a:schemeClr val="dk1"/>
                </a:solidFill>
              </a:rPr>
              <a:t>μₙCox = 250 μA/V</a:t>
            </a:r>
            <a:br>
              <a:rPr lang="en" sz="1200">
                <a:solidFill>
                  <a:schemeClr val="dk1"/>
                </a:solidFill>
              </a:rPr>
            </a:br>
            <a:r>
              <a:rPr lang="en" sz="1200">
                <a:solidFill>
                  <a:schemeClr val="dk1"/>
                </a:solidFill>
              </a:rPr>
              <a:t>μₚCox = 55 μA/V and Vov</a:t>
            </a:r>
            <a:r>
              <a:rPr baseline="-25000" lang="en" sz="1200">
                <a:solidFill>
                  <a:schemeClr val="dk1"/>
                </a:solidFill>
              </a:rPr>
              <a:t>n </a:t>
            </a:r>
            <a:r>
              <a:rPr lang="en" sz="1200">
                <a:solidFill>
                  <a:schemeClr val="dk1"/>
                </a:solidFill>
              </a:rPr>
              <a:t>= Vgs - Vth = 0.2V, Vov</a:t>
            </a:r>
            <a:r>
              <a:rPr baseline="-25000" lang="en" sz="1200">
                <a:solidFill>
                  <a:schemeClr val="dk1"/>
                </a:solidFill>
              </a:rPr>
              <a:t>p</a:t>
            </a:r>
            <a:r>
              <a:rPr lang="en" sz="1200">
                <a:solidFill>
                  <a:schemeClr val="dk1"/>
                </a:solidFill>
              </a:rPr>
              <a:t> = Vsg - Vth =0.2V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→ M</a:t>
            </a:r>
            <a:r>
              <a:rPr baseline="-25000" lang="en" sz="1200">
                <a:solidFill>
                  <a:schemeClr val="dk1"/>
                </a:solidFill>
              </a:rPr>
              <a:t>8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7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5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6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11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12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13</a:t>
            </a:r>
            <a:r>
              <a:rPr lang="en" sz="1200">
                <a:solidFill>
                  <a:schemeClr val="dk1"/>
                </a:solidFill>
              </a:rPr>
              <a:t> and M</a:t>
            </a:r>
            <a:r>
              <a:rPr baseline="-25000" lang="en" sz="1200">
                <a:solidFill>
                  <a:schemeClr val="dk1"/>
                </a:solidFill>
              </a:rPr>
              <a:t>PASS</a:t>
            </a:r>
            <a:r>
              <a:rPr lang="en" sz="1200">
                <a:solidFill>
                  <a:schemeClr val="dk1"/>
                </a:solidFill>
              </a:rPr>
              <a:t> are PMOS transistors.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→ M</a:t>
            </a:r>
            <a:r>
              <a:rPr baseline="-25000" lang="en" sz="1200">
                <a:solidFill>
                  <a:schemeClr val="dk1"/>
                </a:solidFill>
              </a:rPr>
              <a:t>1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2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3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4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9</a:t>
            </a:r>
            <a:r>
              <a:rPr lang="en" sz="1200">
                <a:solidFill>
                  <a:schemeClr val="dk1"/>
                </a:solidFill>
              </a:rPr>
              <a:t> and M</a:t>
            </a:r>
            <a:r>
              <a:rPr baseline="-25000" lang="en" sz="1200">
                <a:solidFill>
                  <a:schemeClr val="dk1"/>
                </a:solidFill>
              </a:rPr>
              <a:t>10</a:t>
            </a:r>
            <a:r>
              <a:rPr lang="en" sz="1200">
                <a:solidFill>
                  <a:schemeClr val="dk1"/>
                </a:solidFill>
              </a:rPr>
              <a:t> are NMOS transistors.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Currents in each transistor: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M</a:t>
            </a:r>
            <a:r>
              <a:rPr baseline="-25000" lang="en" sz="1200">
                <a:solidFill>
                  <a:schemeClr val="dk1"/>
                </a:solidFill>
              </a:rPr>
              <a:t>3</a:t>
            </a:r>
            <a:r>
              <a:rPr lang="en" sz="1200">
                <a:solidFill>
                  <a:schemeClr val="dk1"/>
                </a:solidFill>
              </a:rPr>
              <a:t> → 100 nA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M</a:t>
            </a:r>
            <a:r>
              <a:rPr baseline="-25000" lang="en" sz="1200">
                <a:solidFill>
                  <a:schemeClr val="dk1"/>
                </a:solidFill>
              </a:rPr>
              <a:t>8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9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10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6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5</a:t>
            </a:r>
            <a:r>
              <a:rPr lang="en" sz="1200">
                <a:solidFill>
                  <a:schemeClr val="dk1"/>
                </a:solidFill>
              </a:rPr>
              <a:t> → 2 μA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M</a:t>
            </a:r>
            <a:r>
              <a:rPr baseline="-25000" lang="en" sz="1200">
                <a:solidFill>
                  <a:schemeClr val="dk1"/>
                </a:solidFill>
              </a:rPr>
              <a:t>11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12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13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4</a:t>
            </a:r>
            <a:r>
              <a:rPr lang="en" sz="1200">
                <a:solidFill>
                  <a:schemeClr val="dk1"/>
                </a:solidFill>
              </a:rPr>
              <a:t> → 1 μA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M</a:t>
            </a:r>
            <a:r>
              <a:rPr baseline="-25000" lang="en" sz="1200">
                <a:solidFill>
                  <a:schemeClr val="dk1"/>
                </a:solidFill>
              </a:rPr>
              <a:t>1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2</a:t>
            </a:r>
            <a:r>
              <a:rPr lang="en" sz="1200">
                <a:solidFill>
                  <a:schemeClr val="dk1"/>
                </a:solidFill>
              </a:rPr>
              <a:t>, M</a:t>
            </a:r>
            <a:r>
              <a:rPr baseline="-25000" lang="en" sz="1200">
                <a:solidFill>
                  <a:schemeClr val="dk1"/>
                </a:solidFill>
              </a:rPr>
              <a:t>5,</a:t>
            </a:r>
            <a:r>
              <a:rPr lang="en" sz="1200">
                <a:solidFill>
                  <a:schemeClr val="dk1"/>
                </a:solidFill>
              </a:rPr>
              <a:t> M</a:t>
            </a:r>
            <a:r>
              <a:rPr baseline="-25000" lang="en" sz="1200">
                <a:solidFill>
                  <a:schemeClr val="dk1"/>
                </a:solidFill>
              </a:rPr>
              <a:t>7</a:t>
            </a:r>
            <a:r>
              <a:rPr lang="en" sz="1200">
                <a:solidFill>
                  <a:schemeClr val="dk1"/>
                </a:solidFill>
              </a:rPr>
              <a:t> → 500 nA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08" name="Google Shape;108;p19"/>
          <p:cNvPicPr preferRelativeResize="0"/>
          <p:nvPr/>
        </p:nvPicPr>
        <p:blipFill rotWithShape="1">
          <a:blip r:embed="rId3">
            <a:alphaModFix/>
          </a:blip>
          <a:srcRect b="0" l="0" r="14464" t="0"/>
          <a:stretch/>
        </p:blipFill>
        <p:spPr>
          <a:xfrm>
            <a:off x="4191275" y="2726650"/>
            <a:ext cx="1989876" cy="15508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9" name="Google Shape;109;p19"/>
          <p:cNvCxnSpPr/>
          <p:nvPr/>
        </p:nvCxnSpPr>
        <p:spPr>
          <a:xfrm>
            <a:off x="3812300" y="2688038"/>
            <a:ext cx="0" cy="1777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>
            <p:ph type="title"/>
          </p:nvPr>
        </p:nvSpPr>
        <p:spPr>
          <a:xfrm>
            <a:off x="361400" y="254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Sizing of M</a:t>
            </a:r>
            <a:r>
              <a:rPr baseline="-25000" lang="en"/>
              <a:t>1</a:t>
            </a:r>
            <a:r>
              <a:rPr lang="en"/>
              <a:t> and M</a:t>
            </a:r>
            <a:r>
              <a:rPr baseline="-25000" lang="en"/>
              <a:t>2</a:t>
            </a:r>
            <a:endParaRPr baseline="-25000"/>
          </a:p>
        </p:txBody>
      </p:sp>
      <p:sp>
        <p:nvSpPr>
          <p:cNvPr id="115" name="Google Shape;115;p20"/>
          <p:cNvSpPr txBox="1"/>
          <p:nvPr/>
        </p:nvSpPr>
        <p:spPr>
          <a:xfrm>
            <a:off x="927600" y="900150"/>
            <a:ext cx="7288800" cy="3669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5250" lIns="95250" spcFirstLastPara="1" rIns="95250" wrap="square" tIns="9525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drain current is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aseline="-25000" lang="en"/>
              <a:t>1,2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(½)μ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 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aseline="-25000" lang="en"/>
              <a:t>1,2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GS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− 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)²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Rearranging,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aseline="-25000" lang="en"/>
              <a:t>1,2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2I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/ [μ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GS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− 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)²]</a:t>
            </a:r>
            <a:endParaRPr b="0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/>
              <a:t>Since </a:t>
            </a:r>
            <a:r>
              <a:rPr lang="en">
                <a:solidFill>
                  <a:schemeClr val="dk1"/>
                </a:solidFill>
              </a:rPr>
              <a:t>I</a:t>
            </a:r>
            <a:r>
              <a:rPr baseline="-25000" lang="en">
                <a:solidFill>
                  <a:schemeClr val="dk1"/>
                </a:solidFill>
              </a:rPr>
              <a:t>D</a:t>
            </a:r>
            <a:r>
              <a:rPr lang="en">
                <a:solidFill>
                  <a:schemeClr val="dk1"/>
                </a:solidFill>
              </a:rPr>
              <a:t> = 500n, Vov</a:t>
            </a:r>
            <a:r>
              <a:rPr baseline="-25000" lang="en">
                <a:solidFill>
                  <a:schemeClr val="dk1"/>
                </a:solidFill>
              </a:rPr>
              <a:t>n</a:t>
            </a:r>
            <a:r>
              <a:rPr lang="en">
                <a:solidFill>
                  <a:schemeClr val="dk1"/>
                </a:solidFill>
              </a:rPr>
              <a:t> = (V</a:t>
            </a:r>
            <a:r>
              <a:rPr baseline="-25000" lang="en">
                <a:solidFill>
                  <a:schemeClr val="dk1"/>
                </a:solidFill>
              </a:rPr>
              <a:t>GS</a:t>
            </a:r>
            <a:r>
              <a:rPr lang="en">
                <a:solidFill>
                  <a:schemeClr val="dk1"/>
                </a:solidFill>
              </a:rPr>
              <a:t> − V</a:t>
            </a:r>
            <a:r>
              <a:rPr baseline="-25000" lang="en">
                <a:solidFill>
                  <a:schemeClr val="dk1"/>
                </a:solidFill>
              </a:rPr>
              <a:t>TH</a:t>
            </a:r>
            <a:r>
              <a:rPr lang="en">
                <a:solidFill>
                  <a:schemeClr val="dk1"/>
                </a:solidFill>
              </a:rPr>
              <a:t>) = 0.2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Therefore,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aseline="-25000" lang="en"/>
              <a:t>1,2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/>
              <a:t>0.1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Here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μ</a:t>
            </a:r>
            <a:r>
              <a:rPr baseline="-25000" lang="en">
                <a:solidFill>
                  <a:srgbClr val="000000"/>
                </a:solidFill>
              </a:rPr>
              <a:t>p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/>
              <a:t>250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μS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μ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/>
              <a:t>55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μS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/>
          <p:nvPr>
            <p:ph type="title"/>
          </p:nvPr>
        </p:nvSpPr>
        <p:spPr>
          <a:xfrm>
            <a:off x="361400" y="254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Sizing of M</a:t>
            </a:r>
            <a:r>
              <a:rPr baseline="-25000" lang="en"/>
              <a:t>3</a:t>
            </a:r>
            <a:r>
              <a:rPr lang="en"/>
              <a:t> and M</a:t>
            </a:r>
            <a:r>
              <a:rPr baseline="-25000" lang="en"/>
              <a:t>4</a:t>
            </a:r>
            <a:endParaRPr baseline="-25000"/>
          </a:p>
        </p:txBody>
      </p:sp>
      <p:sp>
        <p:nvSpPr>
          <p:cNvPr id="121" name="Google Shape;121;p21"/>
          <p:cNvSpPr txBox="1"/>
          <p:nvPr/>
        </p:nvSpPr>
        <p:spPr>
          <a:xfrm>
            <a:off x="927600" y="900150"/>
            <a:ext cx="7288800" cy="3669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5250" lIns="95250" spcFirstLastPara="1" rIns="95250" wrap="square" tIns="9525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drain current is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(½)μ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 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GS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− 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)²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Rearranging,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 = 2I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/ [μ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GS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− 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)²]</a:t>
            </a:r>
            <a:endParaRPr b="0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</a:t>
            </a:r>
            <a:r>
              <a:rPr baseline="-25000" lang="en">
                <a:solidFill>
                  <a:schemeClr val="dk1"/>
                </a:solidFill>
              </a:rPr>
              <a:t>D3</a:t>
            </a:r>
            <a:r>
              <a:rPr lang="en">
                <a:solidFill>
                  <a:schemeClr val="dk1"/>
                </a:solidFill>
              </a:rPr>
              <a:t> = 100nA →(w/l)</a:t>
            </a:r>
            <a:r>
              <a:rPr baseline="-25000" lang="en">
                <a:solidFill>
                  <a:schemeClr val="dk1"/>
                </a:solidFill>
              </a:rPr>
              <a:t>3</a:t>
            </a:r>
            <a:r>
              <a:rPr lang="en">
                <a:solidFill>
                  <a:schemeClr val="dk1"/>
                </a:solidFill>
              </a:rPr>
              <a:t> = 0.02</a:t>
            </a:r>
            <a:endParaRPr>
              <a:solidFill>
                <a:schemeClr val="dk1"/>
              </a:solidFill>
            </a:endParaRPr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</a:t>
            </a:r>
            <a:r>
              <a:rPr baseline="-25000" lang="en">
                <a:solidFill>
                  <a:schemeClr val="dk1"/>
                </a:solidFill>
              </a:rPr>
              <a:t>D4</a:t>
            </a:r>
            <a:r>
              <a:rPr lang="en">
                <a:solidFill>
                  <a:schemeClr val="dk1"/>
                </a:solidFill>
              </a:rPr>
              <a:t> = 1µA →(w/l)</a:t>
            </a:r>
            <a:r>
              <a:rPr baseline="-25000" lang="en">
                <a:solidFill>
                  <a:schemeClr val="dk1"/>
                </a:solidFill>
              </a:rPr>
              <a:t>4</a:t>
            </a:r>
            <a:r>
              <a:rPr lang="en">
                <a:solidFill>
                  <a:schemeClr val="dk1"/>
                </a:solidFill>
              </a:rPr>
              <a:t> = 10x0.02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Here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μ</a:t>
            </a:r>
            <a:r>
              <a:rPr baseline="-25000" lang="en">
                <a:solidFill>
                  <a:srgbClr val="000000"/>
                </a:solidFill>
              </a:rPr>
              <a:t>p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/>
              <a:t>250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μS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μ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/>
              <a:t>55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μS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61400" y="254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Sizing of M</a:t>
            </a:r>
            <a:r>
              <a:rPr baseline="-25000" lang="en"/>
              <a:t>9</a:t>
            </a:r>
            <a:r>
              <a:rPr lang="en"/>
              <a:t> and M</a:t>
            </a:r>
            <a:r>
              <a:rPr baseline="-25000" lang="en"/>
              <a:t>10</a:t>
            </a:r>
            <a:endParaRPr baseline="-25000"/>
          </a:p>
        </p:txBody>
      </p:sp>
      <p:sp>
        <p:nvSpPr>
          <p:cNvPr id="127" name="Google Shape;127;p22"/>
          <p:cNvSpPr txBox="1"/>
          <p:nvPr/>
        </p:nvSpPr>
        <p:spPr>
          <a:xfrm>
            <a:off x="927600" y="900150"/>
            <a:ext cx="7288800" cy="3669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5250" lIns="95250" spcFirstLastPara="1" rIns="95250" wrap="square" tIns="9525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drain current is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(½)μ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 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GS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− 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)²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Rearranging,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 = 2I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/ [μ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GS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− V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)²]</a:t>
            </a:r>
            <a:endParaRPr b="0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</a:t>
            </a:r>
            <a:r>
              <a:rPr baseline="-25000" lang="en">
                <a:solidFill>
                  <a:schemeClr val="dk1"/>
                </a:solidFill>
              </a:rPr>
              <a:t>D9,10</a:t>
            </a:r>
            <a:r>
              <a:rPr lang="en">
                <a:solidFill>
                  <a:schemeClr val="dk1"/>
                </a:solidFill>
              </a:rPr>
              <a:t> = A →(w/l)</a:t>
            </a:r>
            <a:r>
              <a:rPr baseline="-25000" lang="en">
                <a:solidFill>
                  <a:schemeClr val="dk1"/>
                </a:solidFill>
              </a:rPr>
              <a:t>9,10</a:t>
            </a:r>
            <a:r>
              <a:rPr lang="en">
                <a:solidFill>
                  <a:schemeClr val="dk1"/>
                </a:solidFill>
              </a:rPr>
              <a:t> = 0.4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Here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μ</a:t>
            </a:r>
            <a:r>
              <a:rPr baseline="-25000" lang="en">
                <a:solidFill>
                  <a:srgbClr val="000000"/>
                </a:solidFill>
              </a:rPr>
              <a:t>p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/>
              <a:t>250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μS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μ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/>
              <a:t>55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μS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 txBox="1"/>
          <p:nvPr>
            <p:ph type="title"/>
          </p:nvPr>
        </p:nvSpPr>
        <p:spPr>
          <a:xfrm>
            <a:off x="361400" y="254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Sizing of M</a:t>
            </a:r>
            <a:r>
              <a:rPr baseline="-25000" lang="en"/>
              <a:t>5</a:t>
            </a:r>
            <a:r>
              <a:rPr lang="en"/>
              <a:t>, M</a:t>
            </a:r>
            <a:r>
              <a:rPr baseline="-25000" lang="en"/>
              <a:t>6</a:t>
            </a:r>
            <a:r>
              <a:rPr lang="en"/>
              <a:t>, M</a:t>
            </a:r>
            <a:r>
              <a:rPr baseline="-25000" lang="en"/>
              <a:t>7</a:t>
            </a:r>
            <a:r>
              <a:rPr lang="en"/>
              <a:t>, M</a:t>
            </a:r>
            <a:r>
              <a:rPr baseline="-25000" lang="en"/>
              <a:t>8</a:t>
            </a:r>
            <a:r>
              <a:rPr lang="en"/>
              <a:t>, M</a:t>
            </a:r>
            <a:r>
              <a:rPr baseline="-25000" lang="en"/>
              <a:t>11</a:t>
            </a:r>
            <a:r>
              <a:rPr lang="en"/>
              <a:t> and M</a:t>
            </a:r>
            <a:r>
              <a:rPr baseline="-25000" lang="en"/>
              <a:t>13</a:t>
            </a:r>
            <a:endParaRPr baseline="-25000"/>
          </a:p>
        </p:txBody>
      </p:sp>
      <p:sp>
        <p:nvSpPr>
          <p:cNvPr id="133" name="Google Shape;133;p23"/>
          <p:cNvSpPr txBox="1"/>
          <p:nvPr/>
        </p:nvSpPr>
        <p:spPr>
          <a:xfrm>
            <a:off x="529625" y="827225"/>
            <a:ext cx="4470300" cy="4056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5250" lIns="95250" spcFirstLastPara="1" rIns="95250" wrap="square" tIns="9525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drain current is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(½)μ</a:t>
            </a:r>
            <a:r>
              <a:rPr baseline="-25000" lang="en"/>
              <a:t>p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 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dk1"/>
                </a:solidFill>
              </a:rPr>
              <a:t>(V</a:t>
            </a:r>
            <a:r>
              <a:rPr baseline="-25000" lang="en">
                <a:solidFill>
                  <a:schemeClr val="dk1"/>
                </a:solidFill>
              </a:rPr>
              <a:t>SG</a:t>
            </a:r>
            <a:r>
              <a:rPr lang="en">
                <a:solidFill>
                  <a:schemeClr val="dk1"/>
                </a:solidFill>
              </a:rPr>
              <a:t> − |V</a:t>
            </a:r>
            <a:r>
              <a:rPr baseline="-25000" lang="en">
                <a:solidFill>
                  <a:schemeClr val="dk1"/>
                </a:solidFill>
              </a:rPr>
              <a:t>THp</a:t>
            </a:r>
            <a:r>
              <a:rPr lang="en">
                <a:solidFill>
                  <a:schemeClr val="dk1"/>
                </a:solidFill>
              </a:rPr>
              <a:t>|)²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Rearranging,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 = 2I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/ [</a:t>
            </a:r>
            <a:r>
              <a:rPr lang="en">
                <a:solidFill>
                  <a:schemeClr val="dk1"/>
                </a:solidFill>
              </a:rPr>
              <a:t>μ</a:t>
            </a:r>
            <a:r>
              <a:rPr baseline="-25000" lang="en">
                <a:solidFill>
                  <a:schemeClr val="dk1"/>
                </a:solidFill>
              </a:rPr>
              <a:t>p</a:t>
            </a:r>
            <a:r>
              <a:rPr lang="en">
                <a:solidFill>
                  <a:schemeClr val="dk1"/>
                </a:solidFill>
              </a:rPr>
              <a:t>C</a:t>
            </a:r>
            <a:r>
              <a:rPr baseline="-25000" lang="en">
                <a:solidFill>
                  <a:schemeClr val="dk1"/>
                </a:solidFill>
              </a:rPr>
              <a:t>ox </a:t>
            </a:r>
            <a:r>
              <a:rPr lang="en">
                <a:solidFill>
                  <a:schemeClr val="dk1"/>
                </a:solidFill>
              </a:rPr>
              <a:t>(V</a:t>
            </a:r>
            <a:r>
              <a:rPr baseline="-25000" lang="en">
                <a:solidFill>
                  <a:schemeClr val="dk1"/>
                </a:solidFill>
              </a:rPr>
              <a:t>SG</a:t>
            </a:r>
            <a:r>
              <a:rPr lang="en">
                <a:solidFill>
                  <a:schemeClr val="dk1"/>
                </a:solidFill>
              </a:rPr>
              <a:t> − |V</a:t>
            </a:r>
            <a:r>
              <a:rPr baseline="-25000" lang="en">
                <a:solidFill>
                  <a:schemeClr val="dk1"/>
                </a:solidFill>
              </a:rPr>
              <a:t>THp</a:t>
            </a:r>
            <a:r>
              <a:rPr lang="en">
                <a:solidFill>
                  <a:schemeClr val="dk1"/>
                </a:solidFill>
              </a:rPr>
              <a:t>|)²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]</a:t>
            </a:r>
            <a:endParaRPr b="0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Vov = (</a:t>
            </a:r>
            <a:r>
              <a:rPr lang="en">
                <a:solidFill>
                  <a:schemeClr val="dk1"/>
                </a:solidFill>
              </a:rPr>
              <a:t>V</a:t>
            </a:r>
            <a:r>
              <a:rPr baseline="-25000" lang="en">
                <a:solidFill>
                  <a:schemeClr val="dk1"/>
                </a:solidFill>
              </a:rPr>
              <a:t>SG</a:t>
            </a:r>
            <a:r>
              <a:rPr lang="en">
                <a:solidFill>
                  <a:schemeClr val="dk1"/>
                </a:solidFill>
              </a:rPr>
              <a:t> − |V</a:t>
            </a:r>
            <a:r>
              <a:rPr baseline="-25000" lang="en">
                <a:solidFill>
                  <a:schemeClr val="dk1"/>
                </a:solidFill>
              </a:rPr>
              <a:t>THp</a:t>
            </a:r>
            <a:r>
              <a:rPr lang="en">
                <a:solidFill>
                  <a:schemeClr val="dk1"/>
                </a:solidFill>
              </a:rPr>
              <a:t>|</a:t>
            </a:r>
            <a:r>
              <a:rPr lang="en">
                <a:solidFill>
                  <a:schemeClr val="dk1"/>
                </a:solidFill>
              </a:rPr>
              <a:t>) = 0.2</a:t>
            </a:r>
            <a:endParaRPr>
              <a:solidFill>
                <a:schemeClr val="dk1"/>
              </a:solidFill>
            </a:endParaRPr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</a:t>
            </a:r>
            <a:r>
              <a:rPr baseline="-25000" lang="en">
                <a:solidFill>
                  <a:schemeClr val="dk1"/>
                </a:solidFill>
              </a:rPr>
              <a:t>D5,7</a:t>
            </a:r>
            <a:r>
              <a:rPr lang="en">
                <a:solidFill>
                  <a:schemeClr val="dk1"/>
                </a:solidFill>
              </a:rPr>
              <a:t> = 500nA →(w/l)</a:t>
            </a:r>
            <a:r>
              <a:rPr baseline="-25000" lang="en">
                <a:solidFill>
                  <a:schemeClr val="dk1"/>
                </a:solidFill>
              </a:rPr>
              <a:t>5,7</a:t>
            </a:r>
            <a:r>
              <a:rPr lang="en">
                <a:solidFill>
                  <a:schemeClr val="dk1"/>
                </a:solidFill>
              </a:rPr>
              <a:t> = 0.45</a:t>
            </a:r>
            <a:endParaRPr>
              <a:solidFill>
                <a:schemeClr val="dk1"/>
              </a:solidFill>
            </a:endParaRPr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</a:t>
            </a:r>
            <a:r>
              <a:rPr baseline="-25000" lang="en">
                <a:solidFill>
                  <a:schemeClr val="dk1"/>
                </a:solidFill>
              </a:rPr>
              <a:t>D6,8</a:t>
            </a:r>
            <a:r>
              <a:rPr lang="en">
                <a:solidFill>
                  <a:schemeClr val="dk1"/>
                </a:solidFill>
              </a:rPr>
              <a:t> = 2µA →(w/l)</a:t>
            </a:r>
            <a:r>
              <a:rPr baseline="-25000" lang="en">
                <a:solidFill>
                  <a:schemeClr val="dk1"/>
                </a:solidFill>
              </a:rPr>
              <a:t>6,8</a:t>
            </a:r>
            <a:r>
              <a:rPr lang="en">
                <a:solidFill>
                  <a:schemeClr val="dk1"/>
                </a:solidFill>
              </a:rPr>
              <a:t> = 4x0.45</a:t>
            </a:r>
            <a:endParaRPr>
              <a:solidFill>
                <a:schemeClr val="dk1"/>
              </a:solidFill>
            </a:endParaRPr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</a:t>
            </a:r>
            <a:r>
              <a:rPr baseline="-25000" lang="en">
                <a:solidFill>
                  <a:schemeClr val="dk1"/>
                </a:solidFill>
              </a:rPr>
              <a:t>D11,13</a:t>
            </a:r>
            <a:r>
              <a:rPr lang="en">
                <a:solidFill>
                  <a:schemeClr val="dk1"/>
                </a:solidFill>
              </a:rPr>
              <a:t> = 1µA →(w/l)</a:t>
            </a:r>
            <a:r>
              <a:rPr baseline="-25000" lang="en">
                <a:solidFill>
                  <a:schemeClr val="dk1"/>
                </a:solidFill>
              </a:rPr>
              <a:t>6,8</a:t>
            </a:r>
            <a:r>
              <a:rPr lang="en">
                <a:solidFill>
                  <a:schemeClr val="dk1"/>
                </a:solidFill>
              </a:rPr>
              <a:t> = 2x0.45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Here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μ</a:t>
            </a:r>
            <a:r>
              <a:rPr baseline="-25000" lang="en">
                <a:solidFill>
                  <a:srgbClr val="000000"/>
                </a:solidFill>
              </a:rPr>
              <a:t>p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/>
              <a:t>250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μS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μ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/>
              <a:t>55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μS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4"/>
          <p:cNvSpPr txBox="1"/>
          <p:nvPr>
            <p:ph type="title"/>
          </p:nvPr>
        </p:nvSpPr>
        <p:spPr>
          <a:xfrm>
            <a:off x="311700" y="246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Sizing of M</a:t>
            </a:r>
            <a:r>
              <a:rPr baseline="-25000" lang="en"/>
              <a:t>12</a:t>
            </a:r>
            <a:r>
              <a:rPr lang="en"/>
              <a:t> and M</a:t>
            </a:r>
            <a:r>
              <a:rPr baseline="-25000" lang="en"/>
              <a:t>PASS</a:t>
            </a:r>
            <a:endParaRPr baseline="-25000"/>
          </a:p>
        </p:txBody>
      </p:sp>
      <p:sp>
        <p:nvSpPr>
          <p:cNvPr id="139" name="Google Shape;139;p24"/>
          <p:cNvSpPr txBox="1"/>
          <p:nvPr/>
        </p:nvSpPr>
        <p:spPr>
          <a:xfrm>
            <a:off x="529625" y="827225"/>
            <a:ext cx="4470300" cy="4056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5250" lIns="95250" spcFirstLastPara="1" rIns="95250" wrap="square" tIns="9525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drain current is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(½)μ</a:t>
            </a:r>
            <a:r>
              <a:rPr baseline="-25000" lang="en"/>
              <a:t>p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 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dk1"/>
                </a:solidFill>
              </a:rPr>
              <a:t>(V</a:t>
            </a:r>
            <a:r>
              <a:rPr baseline="-25000" lang="en">
                <a:solidFill>
                  <a:schemeClr val="dk1"/>
                </a:solidFill>
              </a:rPr>
              <a:t>SG</a:t>
            </a:r>
            <a:r>
              <a:rPr lang="en">
                <a:solidFill>
                  <a:schemeClr val="dk1"/>
                </a:solidFill>
              </a:rPr>
              <a:t> − |V</a:t>
            </a:r>
            <a:r>
              <a:rPr baseline="-25000" lang="en">
                <a:solidFill>
                  <a:schemeClr val="dk1"/>
                </a:solidFill>
              </a:rPr>
              <a:t>THp</a:t>
            </a:r>
            <a:r>
              <a:rPr lang="en">
                <a:solidFill>
                  <a:schemeClr val="dk1"/>
                </a:solidFill>
              </a:rPr>
              <a:t>|)²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Rearranging,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(W/L) = 2I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/ [</a:t>
            </a:r>
            <a:r>
              <a:rPr lang="en">
                <a:solidFill>
                  <a:schemeClr val="dk1"/>
                </a:solidFill>
              </a:rPr>
              <a:t>μ</a:t>
            </a:r>
            <a:r>
              <a:rPr baseline="-25000" lang="en">
                <a:solidFill>
                  <a:schemeClr val="dk1"/>
                </a:solidFill>
              </a:rPr>
              <a:t>p</a:t>
            </a:r>
            <a:r>
              <a:rPr lang="en">
                <a:solidFill>
                  <a:schemeClr val="dk1"/>
                </a:solidFill>
              </a:rPr>
              <a:t>C</a:t>
            </a:r>
            <a:r>
              <a:rPr baseline="-25000" lang="en">
                <a:solidFill>
                  <a:schemeClr val="dk1"/>
                </a:solidFill>
              </a:rPr>
              <a:t>ox </a:t>
            </a:r>
            <a:r>
              <a:rPr lang="en">
                <a:solidFill>
                  <a:schemeClr val="dk1"/>
                </a:solidFill>
              </a:rPr>
              <a:t>(V</a:t>
            </a:r>
            <a:r>
              <a:rPr baseline="-25000" lang="en">
                <a:solidFill>
                  <a:schemeClr val="dk1"/>
                </a:solidFill>
              </a:rPr>
              <a:t>SG</a:t>
            </a:r>
            <a:r>
              <a:rPr lang="en">
                <a:solidFill>
                  <a:schemeClr val="dk1"/>
                </a:solidFill>
              </a:rPr>
              <a:t> − |V</a:t>
            </a:r>
            <a:r>
              <a:rPr baseline="-25000" lang="en">
                <a:solidFill>
                  <a:schemeClr val="dk1"/>
                </a:solidFill>
              </a:rPr>
              <a:t>THp</a:t>
            </a:r>
            <a:r>
              <a:rPr lang="en">
                <a:solidFill>
                  <a:schemeClr val="dk1"/>
                </a:solidFill>
              </a:rPr>
              <a:t>|)²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]</a:t>
            </a:r>
            <a:endParaRPr b="0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Vov = (V</a:t>
            </a:r>
            <a:r>
              <a:rPr baseline="-25000" lang="en">
                <a:solidFill>
                  <a:schemeClr val="dk1"/>
                </a:solidFill>
              </a:rPr>
              <a:t>SG</a:t>
            </a:r>
            <a:r>
              <a:rPr lang="en">
                <a:solidFill>
                  <a:schemeClr val="dk1"/>
                </a:solidFill>
              </a:rPr>
              <a:t> − |V</a:t>
            </a:r>
            <a:r>
              <a:rPr baseline="-25000" lang="en">
                <a:solidFill>
                  <a:schemeClr val="dk1"/>
                </a:solidFill>
              </a:rPr>
              <a:t>THp</a:t>
            </a:r>
            <a:r>
              <a:rPr lang="en">
                <a:solidFill>
                  <a:schemeClr val="dk1"/>
                </a:solidFill>
              </a:rPr>
              <a:t>|) = 0.2</a:t>
            </a:r>
            <a:endParaRPr>
              <a:solidFill>
                <a:schemeClr val="dk1"/>
              </a:solidFill>
            </a:endParaRPr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</a:t>
            </a:r>
            <a:r>
              <a:rPr baseline="-25000" lang="en">
                <a:solidFill>
                  <a:schemeClr val="dk1"/>
                </a:solidFill>
              </a:rPr>
              <a:t>D12</a:t>
            </a:r>
            <a:r>
              <a:rPr lang="en">
                <a:solidFill>
                  <a:schemeClr val="dk1"/>
                </a:solidFill>
              </a:rPr>
              <a:t> = 1u →(w/l)</a:t>
            </a:r>
            <a:r>
              <a:rPr baseline="-25000" lang="en">
                <a:solidFill>
                  <a:schemeClr val="dk1"/>
                </a:solidFill>
              </a:rPr>
              <a:t>12</a:t>
            </a:r>
            <a:r>
              <a:rPr lang="en">
                <a:solidFill>
                  <a:schemeClr val="dk1"/>
                </a:solidFill>
              </a:rPr>
              <a:t> = 0.909</a:t>
            </a:r>
            <a:endParaRPr>
              <a:solidFill>
                <a:schemeClr val="dk1"/>
              </a:solidFill>
            </a:endParaRPr>
          </a:p>
          <a:p>
            <a:pPr indent="0" lvl="0" marL="3048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</a:t>
            </a:r>
            <a:r>
              <a:rPr baseline="-25000" lang="en">
                <a:solidFill>
                  <a:schemeClr val="dk1"/>
                </a:solidFill>
              </a:rPr>
              <a:t>DPAS</a:t>
            </a:r>
            <a:r>
              <a:rPr baseline="-25000" lang="en">
                <a:solidFill>
                  <a:schemeClr val="dk1"/>
                </a:solidFill>
              </a:rPr>
              <a:t>S</a:t>
            </a:r>
            <a:r>
              <a:rPr lang="en">
                <a:solidFill>
                  <a:schemeClr val="dk1"/>
                </a:solidFill>
              </a:rPr>
              <a:t> = 1mA(max) →(w/l)</a:t>
            </a:r>
            <a:r>
              <a:rPr baseline="-25000" lang="en">
                <a:solidFill>
                  <a:schemeClr val="dk1"/>
                </a:solidFill>
              </a:rPr>
              <a:t>PASS</a:t>
            </a:r>
            <a:r>
              <a:rPr lang="en">
                <a:solidFill>
                  <a:schemeClr val="dk1"/>
                </a:solidFill>
              </a:rPr>
              <a:t> = 1000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Here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μ</a:t>
            </a:r>
            <a:r>
              <a:rPr baseline="-25000" lang="en">
                <a:solidFill>
                  <a:srgbClr val="000000"/>
                </a:solidFill>
              </a:rPr>
              <a:t>p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/>
              <a:t>250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μS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04800" marR="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μ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b="0" baseline="-2500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lang="en"/>
              <a:t>55</a:t>
            </a:r>
            <a:r>
              <a:rPr b="0" i="0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μS</a:t>
            </a:r>
            <a:endParaRPr b="1" i="0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5"/>
          <p:cNvSpPr txBox="1"/>
          <p:nvPr>
            <p:ph type="title"/>
          </p:nvPr>
        </p:nvSpPr>
        <p:spPr>
          <a:xfrm>
            <a:off x="311700" y="2296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Sizing of components</a:t>
            </a:r>
            <a:endParaRPr/>
          </a:p>
        </p:txBody>
      </p:sp>
      <p:graphicFrame>
        <p:nvGraphicFramePr>
          <p:cNvPr id="145" name="Google Shape;145;p25"/>
          <p:cNvGraphicFramePr/>
          <p:nvPr/>
        </p:nvGraphicFramePr>
        <p:xfrm>
          <a:off x="757025" y="1038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{24AF90D8-A1AD-49EF-83C1-0F66BF936D3D}</a:tableStyleId>
              </a:tblPr>
              <a:tblGrid>
                <a:gridCol w="2994975"/>
                <a:gridCol w="2401675"/>
                <a:gridCol w="1668400"/>
              </a:tblGrid>
              <a:tr h="3238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/>
                        <a:t>Transistor</a:t>
                      </a:r>
                      <a:endParaRPr b="1"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/>
                        <a:t>Through </a:t>
                      </a:r>
                      <a:r>
                        <a:rPr b="1" lang="en" sz="1000"/>
                        <a:t>Calculation</a:t>
                      </a:r>
                      <a:endParaRPr b="1"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/>
                        <a:t>In Simulation adjustment</a:t>
                      </a:r>
                      <a:endParaRPr b="1" sz="1000"/>
                    </a:p>
                  </a:txBody>
                  <a:tcPr marT="19050" marB="19050" marR="91425" marL="914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M1 and M2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0.1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4u/400n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M3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0.02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20u/400n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M4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10x0.02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20u/400n, m = 10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59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M5 and M7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0.45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450n/1.2u, f = 2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M6 and M8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4x0.45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450n/1.2u,f = 2, m = 4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M9 and M10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0.4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400n/1u, m= 4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M11 and M13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2x0.45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450n/1.2u, f =2, m = 2</a:t>
                      </a:r>
                      <a:endParaRPr sz="1000"/>
                    </a:p>
                  </a:txBody>
                  <a:tcPr marT="19050" marB="19050" marR="91425" marL="914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422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M12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0.909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1.6u/400n, f = 2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33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M</a:t>
                      </a:r>
                      <a:r>
                        <a:rPr lang="en" sz="700"/>
                        <a:t>PASS</a:t>
                      </a:r>
                      <a:endParaRPr sz="7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1000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8.5u/280n, f = 40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0025">
                <a:tc gridSpan="3"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when number of fingers and multipliers are more than 1, they are mentioned</a:t>
                      </a:r>
                      <a:endParaRPr sz="1000"/>
                    </a:p>
                  </a:txBody>
                  <a:tcPr marT="19050" marB="19050" marR="28575" marL="2857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</a:tr>
            </a:tbl>
          </a:graphicData>
        </a:graphic>
      </p:graphicFrame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7325" y="3722975"/>
            <a:ext cx="2034224" cy="101710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/>
        </p:nvSpPr>
        <p:spPr>
          <a:xfrm>
            <a:off x="4100475" y="3850825"/>
            <a:ext cx="3450000" cy="7614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Library : tsmcN65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Cells: nch_25_mac, pch_25_mac and rppolywo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504575" y="1529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Schematic</a:t>
            </a:r>
            <a:endParaRPr/>
          </a:p>
        </p:txBody>
      </p:sp>
      <p:pic>
        <p:nvPicPr>
          <p:cNvPr id="153" name="Google Shape;15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0774" y="778625"/>
            <a:ext cx="7648025" cy="388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PVT  Simulations</a:t>
            </a:r>
            <a:endParaRPr/>
          </a:p>
        </p:txBody>
      </p:sp>
      <p:sp>
        <p:nvSpPr>
          <p:cNvPr id="159" name="Google Shape;159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Load Current </a:t>
            </a:r>
            <a:r>
              <a:rPr lang="en" sz="1400">
                <a:solidFill>
                  <a:schemeClr val="dk1"/>
                </a:solidFill>
              </a:rPr>
              <a:t>varied</a:t>
            </a:r>
            <a:r>
              <a:rPr lang="en" sz="1400">
                <a:solidFill>
                  <a:schemeClr val="dk1"/>
                </a:solidFill>
              </a:rPr>
              <a:t> in 0uA, 9uA and 1.1mA and these values mentioned in the results slides</a:t>
            </a:r>
            <a:endParaRPr sz="1400">
              <a:solidFill>
                <a:schemeClr val="dk1"/>
              </a:solidFill>
            </a:endParaRPr>
          </a:p>
        </p:txBody>
      </p:sp>
      <p:graphicFrame>
        <p:nvGraphicFramePr>
          <p:cNvPr id="160" name="Google Shape;160;p27"/>
          <p:cNvGraphicFramePr/>
          <p:nvPr/>
        </p:nvGraphicFramePr>
        <p:xfrm>
          <a:off x="952500" y="1809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{4EE6A64B-CE49-4A75-95DF-23353274CF2F}</a:tableStyleId>
              </a:tblPr>
              <a:tblGrid>
                <a:gridCol w="3619500"/>
                <a:gridCol w="36195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chemeClr val="dk1"/>
                          </a:solidFill>
                        </a:rPr>
                        <a:t>Parameter</a:t>
                      </a:r>
                      <a:endParaRPr b="1"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solidFill>
                            <a:schemeClr val="dk1"/>
                          </a:solidFill>
                        </a:rPr>
                        <a:t>Value</a:t>
                      </a:r>
                      <a:endParaRPr b="1" sz="1600"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Temperature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-40℃, 27℃, 125℃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Load Capacitor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800nF and 1.2uF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345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DC</a:t>
            </a:r>
            <a:endParaRPr/>
          </a:p>
        </p:txBody>
      </p:sp>
      <p:pic>
        <p:nvPicPr>
          <p:cNvPr id="166" name="Google Shape;166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9200" y="987900"/>
            <a:ext cx="7325600" cy="355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9"/>
          <p:cNvSpPr txBox="1"/>
          <p:nvPr>
            <p:ph type="title"/>
          </p:nvPr>
        </p:nvSpPr>
        <p:spPr>
          <a:xfrm>
            <a:off x="311700" y="246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DC PVT - 1.1 mA load</a:t>
            </a:r>
            <a:endParaRPr/>
          </a:p>
        </p:txBody>
      </p:sp>
      <p:pic>
        <p:nvPicPr>
          <p:cNvPr id="172" name="Google Shape;172;p29"/>
          <p:cNvPicPr preferRelativeResize="0"/>
          <p:nvPr/>
        </p:nvPicPr>
        <p:blipFill rotWithShape="1">
          <a:blip r:embed="rId3">
            <a:alphaModFix/>
          </a:blip>
          <a:srcRect b="1351" l="0" r="0" t="0"/>
          <a:stretch/>
        </p:blipFill>
        <p:spPr>
          <a:xfrm>
            <a:off x="1466025" y="1114925"/>
            <a:ext cx="5847525" cy="327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0"/>
          <p:cNvSpPr txBox="1"/>
          <p:nvPr>
            <p:ph type="title"/>
          </p:nvPr>
        </p:nvSpPr>
        <p:spPr>
          <a:xfrm>
            <a:off x="311700" y="246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DC PVT - 1.1 mA load</a:t>
            </a:r>
            <a:endParaRPr/>
          </a:p>
        </p:txBody>
      </p:sp>
      <p:sp>
        <p:nvSpPr>
          <p:cNvPr id="178" name="Google Shape;178;p30"/>
          <p:cNvSpPr txBox="1"/>
          <p:nvPr/>
        </p:nvSpPr>
        <p:spPr>
          <a:xfrm>
            <a:off x="679175" y="4166150"/>
            <a:ext cx="7065000" cy="4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All the transistors in the design are meeting </a:t>
            </a:r>
            <a:r>
              <a:rPr lang="en">
                <a:solidFill>
                  <a:schemeClr val="dk1"/>
                </a:solidFill>
              </a:rPr>
              <a:t>40 mV</a:t>
            </a:r>
            <a:r>
              <a:rPr lang="en">
                <a:solidFill>
                  <a:schemeClr val="dk1"/>
                </a:solidFill>
              </a:rPr>
              <a:t> overdrive voltage margins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179" name="Google Shape;179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1575" y="1052525"/>
            <a:ext cx="6858000" cy="311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1"/>
          <p:cNvSpPr txBox="1"/>
          <p:nvPr>
            <p:ph type="title"/>
          </p:nvPr>
        </p:nvSpPr>
        <p:spPr>
          <a:xfrm>
            <a:off x="311700" y="246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DC PVT - No load</a:t>
            </a:r>
            <a:endParaRPr/>
          </a:p>
        </p:txBody>
      </p:sp>
      <p:pic>
        <p:nvPicPr>
          <p:cNvPr id="185" name="Google Shape;185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5925" y="1142975"/>
            <a:ext cx="5059826" cy="297347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31"/>
          <p:cNvSpPr/>
          <p:nvPr/>
        </p:nvSpPr>
        <p:spPr>
          <a:xfrm>
            <a:off x="4756038" y="3360853"/>
            <a:ext cx="364350" cy="268875"/>
          </a:xfrm>
          <a:custGeom>
            <a:rect b="b" l="l" r="r" t="t"/>
            <a:pathLst>
              <a:path extrusionOk="0" h="10755" w="14574">
                <a:moveTo>
                  <a:pt x="13327" y="9172"/>
                </a:moveTo>
                <a:cubicBezTo>
                  <a:pt x="14315" y="7691"/>
                  <a:pt x="15130" y="5239"/>
                  <a:pt x="13990" y="3871"/>
                </a:cubicBezTo>
                <a:cubicBezTo>
                  <a:pt x="11259" y="592"/>
                  <a:pt x="4417" y="-1465"/>
                  <a:pt x="1400" y="1552"/>
                </a:cubicBezTo>
                <a:cubicBezTo>
                  <a:pt x="-398" y="3350"/>
                  <a:pt x="-629" y="8227"/>
                  <a:pt x="1731" y="9172"/>
                </a:cubicBezTo>
                <a:cubicBezTo>
                  <a:pt x="5223" y="10570"/>
                  <a:pt x="11804" y="12077"/>
                  <a:pt x="12996" y="8509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87" name="Google Shape;187;p31"/>
          <p:cNvSpPr/>
          <p:nvPr/>
        </p:nvSpPr>
        <p:spPr>
          <a:xfrm>
            <a:off x="4754257" y="3571753"/>
            <a:ext cx="327675" cy="207175"/>
          </a:xfrm>
          <a:custGeom>
            <a:rect b="b" l="l" r="r" t="t"/>
            <a:pathLst>
              <a:path extrusionOk="0" h="8287" w="13107">
                <a:moveTo>
                  <a:pt x="13108" y="3192"/>
                </a:moveTo>
                <a:cubicBezTo>
                  <a:pt x="9653" y="600"/>
                  <a:pt x="1793" y="-1812"/>
                  <a:pt x="187" y="2198"/>
                </a:cubicBezTo>
                <a:cubicBezTo>
                  <a:pt x="-948" y="5034"/>
                  <a:pt x="4131" y="8664"/>
                  <a:pt x="7144" y="8162"/>
                </a:cubicBezTo>
                <a:cubicBezTo>
                  <a:pt x="9144" y="7829"/>
                  <a:pt x="10126" y="4888"/>
                  <a:pt x="10126" y="2861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188" name="Google Shape;188;p31"/>
          <p:cNvCxnSpPr/>
          <p:nvPr/>
        </p:nvCxnSpPr>
        <p:spPr>
          <a:xfrm flipH="1" rot="10800000">
            <a:off x="5135225" y="2836675"/>
            <a:ext cx="968700" cy="600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9" name="Google Shape;189;p31"/>
          <p:cNvCxnSpPr/>
          <p:nvPr/>
        </p:nvCxnSpPr>
        <p:spPr>
          <a:xfrm flipH="1" rot="10800000">
            <a:off x="5044100" y="2863625"/>
            <a:ext cx="1014900" cy="789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0" name="Google Shape;190;p31"/>
          <p:cNvSpPr txBox="1"/>
          <p:nvPr/>
        </p:nvSpPr>
        <p:spPr>
          <a:xfrm>
            <a:off x="6121775" y="2121250"/>
            <a:ext cx="2111100" cy="983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Failing in ff, 125℃, 2V supply corner with load capacitor 800nF and 1.2uF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91" name="Google Shape;191;p31"/>
          <p:cNvSpPr/>
          <p:nvPr/>
        </p:nvSpPr>
        <p:spPr>
          <a:xfrm>
            <a:off x="4707175" y="3726388"/>
            <a:ext cx="1064850" cy="207181"/>
          </a:xfrm>
          <a:custGeom>
            <a:rect b="b" l="l" r="r" t="t"/>
            <a:pathLst>
              <a:path extrusionOk="0" h="13819" w="42594">
                <a:moveTo>
                  <a:pt x="42594" y="1990"/>
                </a:moveTo>
                <a:cubicBezTo>
                  <a:pt x="31686" y="1990"/>
                  <a:pt x="20828" y="195"/>
                  <a:pt x="9920" y="195"/>
                </a:cubicBezTo>
                <a:cubicBezTo>
                  <a:pt x="6582" y="195"/>
                  <a:pt x="775" y="-585"/>
                  <a:pt x="226" y="2708"/>
                </a:cubicBezTo>
                <a:cubicBezTo>
                  <a:pt x="-328" y="6033"/>
                  <a:pt x="-31" y="11151"/>
                  <a:pt x="3098" y="12403"/>
                </a:cubicBezTo>
                <a:cubicBezTo>
                  <a:pt x="10551" y="15384"/>
                  <a:pt x="19237" y="12646"/>
                  <a:pt x="27155" y="11326"/>
                </a:cubicBezTo>
                <a:cubicBezTo>
                  <a:pt x="31877" y="10539"/>
                  <a:pt x="38645" y="7496"/>
                  <a:pt x="38645" y="2708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192" name="Google Shape;192;p31"/>
          <p:cNvCxnSpPr/>
          <p:nvPr/>
        </p:nvCxnSpPr>
        <p:spPr>
          <a:xfrm>
            <a:off x="5689175" y="3778838"/>
            <a:ext cx="953400" cy="99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3" name="Google Shape;193;p31"/>
          <p:cNvSpPr txBox="1"/>
          <p:nvPr/>
        </p:nvSpPr>
        <p:spPr>
          <a:xfrm>
            <a:off x="6584675" y="3144338"/>
            <a:ext cx="1648200" cy="10620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Failing because we sized  M</a:t>
            </a:r>
            <a:r>
              <a:rPr baseline="-25000" lang="en">
                <a:solidFill>
                  <a:schemeClr val="dk1"/>
                </a:solidFill>
              </a:rPr>
              <a:t>PASS</a:t>
            </a:r>
            <a:r>
              <a:rPr lang="en">
                <a:solidFill>
                  <a:schemeClr val="dk1"/>
                </a:solidFill>
              </a:rPr>
              <a:t> for large load current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94" name="Google Shape;194;p31"/>
          <p:cNvSpPr txBox="1"/>
          <p:nvPr/>
        </p:nvSpPr>
        <p:spPr>
          <a:xfrm>
            <a:off x="456075" y="4245850"/>
            <a:ext cx="66753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Though M11, M13 and M</a:t>
            </a:r>
            <a:r>
              <a:rPr baseline="-25000" lang="en">
                <a:solidFill>
                  <a:schemeClr val="dk1"/>
                </a:solidFill>
              </a:rPr>
              <a:t>PASS</a:t>
            </a:r>
            <a:r>
              <a:rPr lang="en">
                <a:solidFill>
                  <a:schemeClr val="dk1"/>
                </a:solidFill>
              </a:rPr>
              <a:t> transistors not in saturation, the output voltage produced by the </a:t>
            </a:r>
            <a:r>
              <a:rPr lang="en">
                <a:solidFill>
                  <a:schemeClr val="dk1"/>
                </a:solidFill>
              </a:rPr>
              <a:t>designed</a:t>
            </a:r>
            <a:r>
              <a:rPr lang="en">
                <a:solidFill>
                  <a:schemeClr val="dk1"/>
                </a:solidFill>
              </a:rPr>
              <a:t> LDO is </a:t>
            </a:r>
            <a:r>
              <a:rPr lang="en">
                <a:solidFill>
                  <a:schemeClr val="dk1"/>
                </a:solidFill>
              </a:rPr>
              <a:t>close</a:t>
            </a:r>
            <a:r>
              <a:rPr lang="en">
                <a:solidFill>
                  <a:schemeClr val="dk1"/>
                </a:solidFill>
              </a:rPr>
              <a:t> to 1.5V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2"/>
          <p:cNvSpPr txBox="1"/>
          <p:nvPr>
            <p:ph type="title"/>
          </p:nvPr>
        </p:nvSpPr>
        <p:spPr>
          <a:xfrm>
            <a:off x="311700" y="246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DC PVT - No load</a:t>
            </a:r>
            <a:endParaRPr/>
          </a:p>
        </p:txBody>
      </p:sp>
      <p:sp>
        <p:nvSpPr>
          <p:cNvPr id="200" name="Google Shape;200;p32"/>
          <p:cNvSpPr txBox="1"/>
          <p:nvPr/>
        </p:nvSpPr>
        <p:spPr>
          <a:xfrm>
            <a:off x="7270925" y="2289000"/>
            <a:ext cx="1355400" cy="12207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Failing because we sized M</a:t>
            </a:r>
            <a:r>
              <a:rPr baseline="-25000" lang="en">
                <a:solidFill>
                  <a:schemeClr val="dk1"/>
                </a:solidFill>
              </a:rPr>
              <a:t>PASS </a:t>
            </a:r>
            <a:r>
              <a:rPr lang="en">
                <a:solidFill>
                  <a:schemeClr val="dk1"/>
                </a:solidFill>
              </a:rPr>
              <a:t>for large load current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201" name="Google Shape;20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1400" y="1011575"/>
            <a:ext cx="5881350" cy="341135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/>
          <p:nvPr/>
        </p:nvSpPr>
        <p:spPr>
          <a:xfrm>
            <a:off x="4900418" y="4187720"/>
            <a:ext cx="408725" cy="279125"/>
          </a:xfrm>
          <a:custGeom>
            <a:rect b="b" l="l" r="r" t="t"/>
            <a:pathLst>
              <a:path extrusionOk="0" h="11165" w="16349">
                <a:moveTo>
                  <a:pt x="16349" y="131"/>
                </a:moveTo>
                <a:cubicBezTo>
                  <a:pt x="10750" y="131"/>
                  <a:pt x="-807" y="-1084"/>
                  <a:pt x="115" y="4438"/>
                </a:cubicBezTo>
                <a:cubicBezTo>
                  <a:pt x="792" y="8492"/>
                  <a:pt x="6901" y="12260"/>
                  <a:pt x="10717" y="10733"/>
                </a:cubicBezTo>
                <a:cubicBezTo>
                  <a:pt x="14204" y="9338"/>
                  <a:pt x="16545" y="4026"/>
                  <a:pt x="15355" y="463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203" name="Google Shape;203;p32"/>
          <p:cNvCxnSpPr/>
          <p:nvPr/>
        </p:nvCxnSpPr>
        <p:spPr>
          <a:xfrm flipH="1" rot="10800000">
            <a:off x="5300875" y="3032400"/>
            <a:ext cx="2007300" cy="1158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AC Analysis(PSRR)</a:t>
            </a:r>
            <a:endParaRPr/>
          </a:p>
        </p:txBody>
      </p:sp>
      <p:pic>
        <p:nvPicPr>
          <p:cNvPr id="209" name="Google Shape;209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0437" y="1191650"/>
            <a:ext cx="7203124" cy="366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4"/>
          <p:cNvSpPr txBox="1"/>
          <p:nvPr>
            <p:ph type="title"/>
          </p:nvPr>
        </p:nvSpPr>
        <p:spPr>
          <a:xfrm>
            <a:off x="311700" y="28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PSRR(PVT) with No Load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2575" y="1173138"/>
            <a:ext cx="7258849" cy="2797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34725" y="3970350"/>
            <a:ext cx="6940825" cy="82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5"/>
          <p:cNvSpPr txBox="1"/>
          <p:nvPr>
            <p:ph type="title"/>
          </p:nvPr>
        </p:nvSpPr>
        <p:spPr>
          <a:xfrm>
            <a:off x="311700" y="28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PSRR(PVT) with 1.1 mA Load</a:t>
            </a:r>
            <a:endParaRPr/>
          </a:p>
        </p:txBody>
      </p:sp>
      <p:pic>
        <p:nvPicPr>
          <p:cNvPr id="222" name="Google Shape;222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1925" y="1269525"/>
            <a:ext cx="7280149" cy="278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16299" y="4094950"/>
            <a:ext cx="6594824" cy="735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6"/>
          <p:cNvSpPr txBox="1"/>
          <p:nvPr>
            <p:ph type="title"/>
          </p:nvPr>
        </p:nvSpPr>
        <p:spPr>
          <a:xfrm>
            <a:off x="311700" y="345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Stability</a:t>
            </a:r>
            <a:endParaRPr/>
          </a:p>
        </p:txBody>
      </p:sp>
      <p:pic>
        <p:nvPicPr>
          <p:cNvPr id="229" name="Google Shape;229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400" y="1059150"/>
            <a:ext cx="5513175" cy="3098726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36"/>
          <p:cNvSpPr txBox="1"/>
          <p:nvPr/>
        </p:nvSpPr>
        <p:spPr>
          <a:xfrm>
            <a:off x="6725475" y="1159575"/>
            <a:ext cx="2106900" cy="6459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Iprobe was instantiated inside the LDO block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5241285" y="2848820"/>
            <a:ext cx="432575" cy="488550"/>
          </a:xfrm>
          <a:custGeom>
            <a:rect b="b" l="l" r="r" t="t"/>
            <a:pathLst>
              <a:path extrusionOk="0" h="19542" w="17303">
                <a:moveTo>
                  <a:pt x="14973" y="1341"/>
                </a:moveTo>
                <a:cubicBezTo>
                  <a:pt x="10649" y="379"/>
                  <a:pt x="4000" y="-1464"/>
                  <a:pt x="1721" y="2335"/>
                </a:cubicBezTo>
                <a:cubicBezTo>
                  <a:pt x="-841" y="6606"/>
                  <a:pt x="-397" y="13355"/>
                  <a:pt x="2715" y="17244"/>
                </a:cubicBezTo>
                <a:cubicBezTo>
                  <a:pt x="5268" y="20434"/>
                  <a:pt x="12083" y="20132"/>
                  <a:pt x="14973" y="17244"/>
                </a:cubicBezTo>
                <a:cubicBezTo>
                  <a:pt x="18414" y="13805"/>
                  <a:pt x="17748" y="6108"/>
                  <a:pt x="14311" y="2666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232" name="Google Shape;232;p36"/>
          <p:cNvCxnSpPr/>
          <p:nvPr/>
        </p:nvCxnSpPr>
        <p:spPr>
          <a:xfrm flipH="1" rot="10800000">
            <a:off x="5582475" y="1714400"/>
            <a:ext cx="1085100" cy="1192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7"/>
          <p:cNvSpPr txBox="1"/>
          <p:nvPr>
            <p:ph type="title"/>
          </p:nvPr>
        </p:nvSpPr>
        <p:spPr>
          <a:xfrm>
            <a:off x="311700" y="28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Stability - 1.1mA(PVT)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500" y="1012750"/>
            <a:ext cx="7214151" cy="324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65700" y="4258425"/>
            <a:ext cx="4919161" cy="45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28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Stability - 9uA (PVT)</a:t>
            </a:r>
            <a:endParaRPr/>
          </a:p>
        </p:txBody>
      </p:sp>
      <p:pic>
        <p:nvPicPr>
          <p:cNvPr id="245" name="Google Shape;245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4225" y="913350"/>
            <a:ext cx="7247273" cy="338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76625" y="4298800"/>
            <a:ext cx="5048874" cy="44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3539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Load Transient</a:t>
            </a:r>
            <a:endParaRPr/>
          </a:p>
        </p:txBody>
      </p:sp>
      <p:pic>
        <p:nvPicPr>
          <p:cNvPr id="252" name="Google Shape;252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5925" y="987900"/>
            <a:ext cx="7239125" cy="3770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28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Load Transient - Explanation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40"/>
          <p:cNvSpPr txBox="1"/>
          <p:nvPr/>
        </p:nvSpPr>
        <p:spPr>
          <a:xfrm>
            <a:off x="5754925" y="1116025"/>
            <a:ext cx="2800200" cy="33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Whenever the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load current</a:t>
            </a:r>
            <a:r>
              <a:rPr lang="en">
                <a:solidFill>
                  <a:schemeClr val="dk1"/>
                </a:solidFill>
              </a:rPr>
              <a:t> is changing from 9 uA to 1.1 mA in 1us duration and coming back to 9 uA to 1.1 mA in 1us duration, usually the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Gate Voltage</a:t>
            </a:r>
            <a:r>
              <a:rPr lang="en">
                <a:solidFill>
                  <a:schemeClr val="dk1"/>
                </a:solidFill>
              </a:rPr>
              <a:t> and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Vsg of pass transistor</a:t>
            </a:r>
            <a:r>
              <a:rPr lang="en">
                <a:solidFill>
                  <a:schemeClr val="dk1"/>
                </a:solidFill>
              </a:rPr>
              <a:t>  will take some time to provide the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required current to the load</a:t>
            </a:r>
            <a:r>
              <a:rPr lang="en">
                <a:solidFill>
                  <a:schemeClr val="dk1"/>
                </a:solidFill>
              </a:rPr>
              <a:t> so during that time the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capacitor</a:t>
            </a:r>
            <a:r>
              <a:rPr lang="en">
                <a:solidFill>
                  <a:schemeClr val="dk1"/>
                </a:solidFill>
              </a:rPr>
              <a:t> will produce and take the current during that time 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causing very little variation in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LDO output voltage</a:t>
            </a:r>
            <a:r>
              <a:rPr lang="en">
                <a:solidFill>
                  <a:schemeClr val="dk1"/>
                </a:solidFill>
              </a:rPr>
              <a:t> as the voltage across the capacitor does not change in </a:t>
            </a:r>
            <a:r>
              <a:rPr lang="en">
                <a:solidFill>
                  <a:schemeClr val="dk1"/>
                </a:solidFill>
              </a:rPr>
              <a:t>quicktime</a:t>
            </a:r>
            <a:r>
              <a:rPr lang="en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259" name="Google Shape;259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999800"/>
            <a:ext cx="5472950" cy="3267676"/>
          </a:xfrm>
          <a:prstGeom prst="rect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60" name="Google Shape;260;p40"/>
          <p:cNvSpPr/>
          <p:nvPr/>
        </p:nvSpPr>
        <p:spPr>
          <a:xfrm>
            <a:off x="411629" y="1305175"/>
            <a:ext cx="401795" cy="382000"/>
          </a:xfrm>
          <a:custGeom>
            <a:rect b="b" l="l" r="r" t="t"/>
            <a:pathLst>
              <a:path extrusionOk="0" h="15280" w="22168">
                <a:moveTo>
                  <a:pt x="14088" y="852"/>
                </a:moveTo>
                <a:cubicBezTo>
                  <a:pt x="9984" y="168"/>
                  <a:pt x="4593" y="-1052"/>
                  <a:pt x="1650" y="1889"/>
                </a:cubicBezTo>
                <a:cubicBezTo>
                  <a:pt x="-549" y="4087"/>
                  <a:pt x="-549" y="9019"/>
                  <a:pt x="1650" y="11217"/>
                </a:cubicBezTo>
                <a:cubicBezTo>
                  <a:pt x="6173" y="15737"/>
                  <a:pt x="17277" y="17055"/>
                  <a:pt x="20825" y="11735"/>
                </a:cubicBezTo>
                <a:cubicBezTo>
                  <a:pt x="22457" y="9288"/>
                  <a:pt x="22938" y="4241"/>
                  <a:pt x="20307" y="2925"/>
                </a:cubicBezTo>
                <a:cubicBezTo>
                  <a:pt x="18353" y="1947"/>
                  <a:pt x="16042" y="1831"/>
                  <a:pt x="14088" y="852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61" name="Google Shape;261;p40"/>
          <p:cNvSpPr/>
          <p:nvPr/>
        </p:nvSpPr>
        <p:spPr>
          <a:xfrm>
            <a:off x="411637" y="1740472"/>
            <a:ext cx="554200" cy="382000"/>
          </a:xfrm>
          <a:custGeom>
            <a:rect b="b" l="l" r="r" t="t"/>
            <a:pathLst>
              <a:path extrusionOk="0" h="15280" w="22168">
                <a:moveTo>
                  <a:pt x="14088" y="852"/>
                </a:moveTo>
                <a:cubicBezTo>
                  <a:pt x="9984" y="168"/>
                  <a:pt x="4593" y="-1052"/>
                  <a:pt x="1650" y="1889"/>
                </a:cubicBezTo>
                <a:cubicBezTo>
                  <a:pt x="-549" y="4087"/>
                  <a:pt x="-549" y="9019"/>
                  <a:pt x="1650" y="11217"/>
                </a:cubicBezTo>
                <a:cubicBezTo>
                  <a:pt x="6173" y="15737"/>
                  <a:pt x="17277" y="17055"/>
                  <a:pt x="20825" y="11735"/>
                </a:cubicBezTo>
                <a:cubicBezTo>
                  <a:pt x="22457" y="9288"/>
                  <a:pt x="22938" y="4241"/>
                  <a:pt x="20307" y="2925"/>
                </a:cubicBezTo>
                <a:cubicBezTo>
                  <a:pt x="18353" y="1947"/>
                  <a:pt x="16042" y="1831"/>
                  <a:pt x="14088" y="852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62" name="Google Shape;262;p40"/>
          <p:cNvSpPr/>
          <p:nvPr/>
        </p:nvSpPr>
        <p:spPr>
          <a:xfrm>
            <a:off x="411637" y="2175785"/>
            <a:ext cx="554200" cy="382000"/>
          </a:xfrm>
          <a:custGeom>
            <a:rect b="b" l="l" r="r" t="t"/>
            <a:pathLst>
              <a:path extrusionOk="0" h="15280" w="22168">
                <a:moveTo>
                  <a:pt x="14088" y="852"/>
                </a:moveTo>
                <a:cubicBezTo>
                  <a:pt x="9984" y="168"/>
                  <a:pt x="4593" y="-1052"/>
                  <a:pt x="1650" y="1889"/>
                </a:cubicBezTo>
                <a:cubicBezTo>
                  <a:pt x="-549" y="4087"/>
                  <a:pt x="-549" y="9019"/>
                  <a:pt x="1650" y="11217"/>
                </a:cubicBezTo>
                <a:cubicBezTo>
                  <a:pt x="6173" y="15737"/>
                  <a:pt x="17277" y="17055"/>
                  <a:pt x="20825" y="11735"/>
                </a:cubicBezTo>
                <a:cubicBezTo>
                  <a:pt x="22457" y="9288"/>
                  <a:pt x="22938" y="4241"/>
                  <a:pt x="20307" y="2925"/>
                </a:cubicBezTo>
                <a:cubicBezTo>
                  <a:pt x="18353" y="1947"/>
                  <a:pt x="16042" y="1831"/>
                  <a:pt x="14088" y="852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63" name="Google Shape;263;p40"/>
          <p:cNvSpPr/>
          <p:nvPr/>
        </p:nvSpPr>
        <p:spPr>
          <a:xfrm>
            <a:off x="311712" y="2609347"/>
            <a:ext cx="554200" cy="382000"/>
          </a:xfrm>
          <a:custGeom>
            <a:rect b="b" l="l" r="r" t="t"/>
            <a:pathLst>
              <a:path extrusionOk="0" h="15280" w="22168">
                <a:moveTo>
                  <a:pt x="14088" y="852"/>
                </a:moveTo>
                <a:cubicBezTo>
                  <a:pt x="9984" y="168"/>
                  <a:pt x="4593" y="-1052"/>
                  <a:pt x="1650" y="1889"/>
                </a:cubicBezTo>
                <a:cubicBezTo>
                  <a:pt x="-549" y="4087"/>
                  <a:pt x="-549" y="9019"/>
                  <a:pt x="1650" y="11217"/>
                </a:cubicBezTo>
                <a:cubicBezTo>
                  <a:pt x="6173" y="15737"/>
                  <a:pt x="17277" y="17055"/>
                  <a:pt x="20825" y="11735"/>
                </a:cubicBezTo>
                <a:cubicBezTo>
                  <a:pt x="22457" y="9288"/>
                  <a:pt x="22938" y="4241"/>
                  <a:pt x="20307" y="2925"/>
                </a:cubicBezTo>
                <a:cubicBezTo>
                  <a:pt x="18353" y="1947"/>
                  <a:pt x="16042" y="1831"/>
                  <a:pt x="14088" y="852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64" name="Google Shape;264;p40"/>
          <p:cNvSpPr/>
          <p:nvPr/>
        </p:nvSpPr>
        <p:spPr>
          <a:xfrm>
            <a:off x="311700" y="3046400"/>
            <a:ext cx="554200" cy="382000"/>
          </a:xfrm>
          <a:custGeom>
            <a:rect b="b" l="l" r="r" t="t"/>
            <a:pathLst>
              <a:path extrusionOk="0" h="15280" w="22168">
                <a:moveTo>
                  <a:pt x="14088" y="852"/>
                </a:moveTo>
                <a:cubicBezTo>
                  <a:pt x="9984" y="168"/>
                  <a:pt x="4593" y="-1052"/>
                  <a:pt x="1650" y="1889"/>
                </a:cubicBezTo>
                <a:cubicBezTo>
                  <a:pt x="-549" y="4087"/>
                  <a:pt x="-549" y="9019"/>
                  <a:pt x="1650" y="11217"/>
                </a:cubicBezTo>
                <a:cubicBezTo>
                  <a:pt x="6173" y="15737"/>
                  <a:pt x="17277" y="17055"/>
                  <a:pt x="20825" y="11735"/>
                </a:cubicBezTo>
                <a:cubicBezTo>
                  <a:pt x="22457" y="9288"/>
                  <a:pt x="22938" y="4241"/>
                  <a:pt x="20307" y="2925"/>
                </a:cubicBezTo>
                <a:cubicBezTo>
                  <a:pt x="18353" y="1947"/>
                  <a:pt x="16042" y="1831"/>
                  <a:pt x="14088" y="852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65" name="Google Shape;265;p40"/>
          <p:cNvSpPr/>
          <p:nvPr/>
        </p:nvSpPr>
        <p:spPr>
          <a:xfrm>
            <a:off x="311712" y="3456322"/>
            <a:ext cx="554200" cy="382000"/>
          </a:xfrm>
          <a:custGeom>
            <a:rect b="b" l="l" r="r" t="t"/>
            <a:pathLst>
              <a:path extrusionOk="0" h="15280" w="22168">
                <a:moveTo>
                  <a:pt x="14088" y="852"/>
                </a:moveTo>
                <a:cubicBezTo>
                  <a:pt x="9984" y="168"/>
                  <a:pt x="4593" y="-1052"/>
                  <a:pt x="1650" y="1889"/>
                </a:cubicBezTo>
                <a:cubicBezTo>
                  <a:pt x="-549" y="4087"/>
                  <a:pt x="-549" y="9019"/>
                  <a:pt x="1650" y="11217"/>
                </a:cubicBezTo>
                <a:cubicBezTo>
                  <a:pt x="6173" y="15737"/>
                  <a:pt x="17277" y="17055"/>
                  <a:pt x="20825" y="11735"/>
                </a:cubicBezTo>
                <a:cubicBezTo>
                  <a:pt x="22457" y="9288"/>
                  <a:pt x="22938" y="4241"/>
                  <a:pt x="20307" y="2925"/>
                </a:cubicBezTo>
                <a:cubicBezTo>
                  <a:pt x="18353" y="1947"/>
                  <a:pt x="16042" y="1831"/>
                  <a:pt x="14088" y="852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266" name="Google Shape;266;p40"/>
          <p:cNvCxnSpPr/>
          <p:nvPr/>
        </p:nvCxnSpPr>
        <p:spPr>
          <a:xfrm flipH="1" rot="10800000">
            <a:off x="822800" y="1368275"/>
            <a:ext cx="6183900" cy="1041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7" name="Google Shape;267;p40"/>
          <p:cNvCxnSpPr/>
          <p:nvPr/>
        </p:nvCxnSpPr>
        <p:spPr>
          <a:xfrm>
            <a:off x="961500" y="1911575"/>
            <a:ext cx="5837100" cy="2889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8" name="Google Shape;268;p40"/>
          <p:cNvCxnSpPr/>
          <p:nvPr/>
        </p:nvCxnSpPr>
        <p:spPr>
          <a:xfrm>
            <a:off x="938375" y="2350800"/>
            <a:ext cx="4947000" cy="117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40"/>
          <p:cNvCxnSpPr/>
          <p:nvPr/>
        </p:nvCxnSpPr>
        <p:spPr>
          <a:xfrm>
            <a:off x="845925" y="2824700"/>
            <a:ext cx="5004900" cy="462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70" name="Google Shape;270;p40"/>
          <p:cNvCxnSpPr/>
          <p:nvPr/>
        </p:nvCxnSpPr>
        <p:spPr>
          <a:xfrm flipH="1" rot="10800000">
            <a:off x="834350" y="3044325"/>
            <a:ext cx="6530400" cy="2196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71" name="Google Shape;271;p40"/>
          <p:cNvCxnSpPr/>
          <p:nvPr/>
        </p:nvCxnSpPr>
        <p:spPr>
          <a:xfrm>
            <a:off x="869025" y="3645350"/>
            <a:ext cx="6218400" cy="579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2" name="Google Shape;272;p40"/>
          <p:cNvSpPr txBox="1"/>
          <p:nvPr/>
        </p:nvSpPr>
        <p:spPr>
          <a:xfrm>
            <a:off x="291125" y="4581575"/>
            <a:ext cx="7929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</a:pPr>
            <a:r>
              <a:rPr lang="en">
                <a:solidFill>
                  <a:schemeClr val="accent2"/>
                </a:solidFill>
              </a:rPr>
              <a:t>Simulation done at tt, 27,VDD→1.7V and load capacitor at 1uF</a:t>
            </a:r>
            <a:endParaRPr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4325" y="933700"/>
            <a:ext cx="6373198" cy="3303875"/>
          </a:xfrm>
          <a:prstGeom prst="rect">
            <a:avLst/>
          </a:prstGeom>
          <a:noFill/>
          <a:ln cap="flat" cmpd="sng" w="9525">
            <a:solidFill>
              <a:srgbClr val="9900FF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78" name="Google Shape;278;p41"/>
          <p:cNvSpPr txBox="1"/>
          <p:nvPr>
            <p:ph type="title"/>
          </p:nvPr>
        </p:nvSpPr>
        <p:spPr>
          <a:xfrm>
            <a:off x="554050" y="229675"/>
            <a:ext cx="8520600" cy="5727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Load Transient - PVT (</a:t>
            </a:r>
            <a:r>
              <a:rPr lang="en"/>
              <a:t>with Iload of 0 and 1.1 mA)</a:t>
            </a:r>
            <a:endParaRPr/>
          </a:p>
        </p:txBody>
      </p:sp>
      <p:pic>
        <p:nvPicPr>
          <p:cNvPr id="279" name="Google Shape;279;p41"/>
          <p:cNvPicPr preferRelativeResize="0"/>
          <p:nvPr/>
        </p:nvPicPr>
        <p:blipFill rotWithShape="1">
          <a:blip r:embed="rId4">
            <a:alphaModFix/>
          </a:blip>
          <a:srcRect b="0" l="0" r="1166" t="0"/>
          <a:stretch/>
        </p:blipFill>
        <p:spPr>
          <a:xfrm>
            <a:off x="1256700" y="4237575"/>
            <a:ext cx="5327975" cy="57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Line Transient</a:t>
            </a:r>
            <a:endParaRPr/>
          </a:p>
        </p:txBody>
      </p:sp>
      <p:pic>
        <p:nvPicPr>
          <p:cNvPr id="285" name="Google Shape;285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1988" y="1319200"/>
            <a:ext cx="7200025" cy="3335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43"/>
          <p:cNvSpPr txBox="1"/>
          <p:nvPr>
            <p:ph type="title"/>
          </p:nvPr>
        </p:nvSpPr>
        <p:spPr>
          <a:xfrm>
            <a:off x="311700" y="2655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 Transient - </a:t>
            </a:r>
            <a:r>
              <a:rPr lang="en"/>
              <a:t>Explanation</a:t>
            </a:r>
            <a:endParaRPr/>
          </a:p>
        </p:txBody>
      </p:sp>
      <p:sp>
        <p:nvSpPr>
          <p:cNvPr id="291" name="Google Shape;291;p43"/>
          <p:cNvSpPr txBox="1"/>
          <p:nvPr/>
        </p:nvSpPr>
        <p:spPr>
          <a:xfrm>
            <a:off x="6394175" y="944225"/>
            <a:ext cx="2360700" cy="38403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Whenever the </a:t>
            </a:r>
            <a:r>
              <a:rPr lang="en">
                <a:solidFill>
                  <a:srgbClr val="FFFFFF"/>
                </a:solidFill>
                <a:highlight>
                  <a:schemeClr val="dk1"/>
                </a:highlight>
              </a:rPr>
              <a:t>VDD</a:t>
            </a:r>
            <a:r>
              <a:rPr lang="en" u="sng">
                <a:solidFill>
                  <a:srgbClr val="FFFFFF"/>
                </a:solidFill>
                <a:highlight>
                  <a:schemeClr val="dk1"/>
                </a:highlight>
              </a:rPr>
              <a:t> </a:t>
            </a:r>
            <a:r>
              <a:rPr lang="en">
                <a:solidFill>
                  <a:schemeClr val="dk1"/>
                </a:solidFill>
              </a:rPr>
              <a:t>changes from 1.7 V to 2 V and comes back to 1.7V within 1uS duration, the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gate voltage</a:t>
            </a:r>
            <a:r>
              <a:rPr lang="en">
                <a:solidFill>
                  <a:schemeClr val="dk1"/>
                </a:solidFill>
              </a:rPr>
              <a:t> and </a:t>
            </a:r>
            <a:endParaRPr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highlight>
                  <a:srgbClr val="000000"/>
                </a:highlight>
              </a:rPr>
              <a:t>Vsg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 of </a:t>
            </a:r>
            <a:r>
              <a:rPr lang="en">
                <a:solidFill>
                  <a:schemeClr val="lt1"/>
                </a:solidFill>
                <a:highlight>
                  <a:srgbClr val="000000"/>
                </a:highlight>
              </a:rPr>
              <a:t>pass transistor  will change</a:t>
            </a:r>
            <a:r>
              <a:rPr lang="en">
                <a:solidFill>
                  <a:schemeClr val="dk1"/>
                </a:solidFill>
              </a:rPr>
              <a:t> in such a way to produce defined 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load current</a:t>
            </a:r>
            <a:r>
              <a:rPr lang="en">
                <a:solidFill>
                  <a:schemeClr val="dk1"/>
                </a:solidFill>
              </a:rPr>
              <a:t>, during that </a:t>
            </a:r>
            <a:r>
              <a:rPr lang="en">
                <a:solidFill>
                  <a:schemeClr val="dk1"/>
                </a:solidFill>
              </a:rPr>
              <a:t>transition</a:t>
            </a:r>
            <a:r>
              <a:rPr lang="en">
                <a:solidFill>
                  <a:schemeClr val="dk1"/>
                </a:solidFill>
              </a:rPr>
              <a:t> the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capacitor</a:t>
            </a:r>
            <a:r>
              <a:rPr lang="en">
                <a:solidFill>
                  <a:schemeClr val="dk1"/>
                </a:solidFill>
              </a:rPr>
              <a:t> either sinks or source the current, with respect to pass transistor current to produce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defined load current </a:t>
            </a:r>
            <a:r>
              <a:rPr lang="en">
                <a:solidFill>
                  <a:schemeClr val="dk1"/>
                </a:solidFill>
                <a:highlight>
                  <a:schemeClr val="lt1"/>
                </a:highlight>
              </a:rPr>
              <a:t>causing very little variation in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LDO output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</a:rPr>
              <a:t>voltage</a:t>
            </a:r>
            <a:endParaRPr>
              <a:solidFill>
                <a:schemeClr val="lt1"/>
              </a:solidFill>
              <a:highlight>
                <a:schemeClr val="dk1"/>
              </a:highlight>
            </a:endParaRPr>
          </a:p>
        </p:txBody>
      </p:sp>
      <p:pic>
        <p:nvPicPr>
          <p:cNvPr id="292" name="Google Shape;292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2200" y="1062850"/>
            <a:ext cx="6152350" cy="3351776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93" name="Google Shape;293;p43"/>
          <p:cNvSpPr/>
          <p:nvPr/>
        </p:nvSpPr>
        <p:spPr>
          <a:xfrm>
            <a:off x="224868" y="1359134"/>
            <a:ext cx="373050" cy="397375"/>
          </a:xfrm>
          <a:custGeom>
            <a:rect b="b" l="l" r="r" t="t"/>
            <a:pathLst>
              <a:path extrusionOk="0" h="15895" w="14922">
                <a:moveTo>
                  <a:pt x="14703" y="9188"/>
                </a:moveTo>
                <a:cubicBezTo>
                  <a:pt x="16068" y="5093"/>
                  <a:pt x="9600" y="-635"/>
                  <a:pt x="5367" y="212"/>
                </a:cubicBezTo>
                <a:cubicBezTo>
                  <a:pt x="614" y="1163"/>
                  <a:pt x="-613" y="9104"/>
                  <a:pt x="340" y="13856"/>
                </a:cubicBezTo>
                <a:cubicBezTo>
                  <a:pt x="1285" y="18569"/>
                  <a:pt x="12465" y="13748"/>
                  <a:pt x="13985" y="918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94" name="Google Shape;294;p43"/>
          <p:cNvSpPr/>
          <p:nvPr/>
        </p:nvSpPr>
        <p:spPr>
          <a:xfrm>
            <a:off x="268550" y="1827525"/>
            <a:ext cx="416212" cy="260599"/>
          </a:xfrm>
          <a:custGeom>
            <a:rect b="b" l="l" r="r" t="t"/>
            <a:pathLst>
              <a:path extrusionOk="0" h="15895" w="14922">
                <a:moveTo>
                  <a:pt x="14703" y="9188"/>
                </a:moveTo>
                <a:cubicBezTo>
                  <a:pt x="16068" y="5093"/>
                  <a:pt x="9600" y="-635"/>
                  <a:pt x="5367" y="212"/>
                </a:cubicBezTo>
                <a:cubicBezTo>
                  <a:pt x="614" y="1163"/>
                  <a:pt x="-613" y="9104"/>
                  <a:pt x="340" y="13856"/>
                </a:cubicBezTo>
                <a:cubicBezTo>
                  <a:pt x="1285" y="18569"/>
                  <a:pt x="12465" y="13748"/>
                  <a:pt x="13985" y="918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95" name="Google Shape;295;p43"/>
          <p:cNvSpPr/>
          <p:nvPr/>
        </p:nvSpPr>
        <p:spPr>
          <a:xfrm>
            <a:off x="311700" y="3281602"/>
            <a:ext cx="373050" cy="293740"/>
          </a:xfrm>
          <a:custGeom>
            <a:rect b="b" l="l" r="r" t="t"/>
            <a:pathLst>
              <a:path extrusionOk="0" h="15895" w="14922">
                <a:moveTo>
                  <a:pt x="14703" y="9188"/>
                </a:moveTo>
                <a:cubicBezTo>
                  <a:pt x="16068" y="5093"/>
                  <a:pt x="9600" y="-635"/>
                  <a:pt x="5367" y="212"/>
                </a:cubicBezTo>
                <a:cubicBezTo>
                  <a:pt x="614" y="1163"/>
                  <a:pt x="-613" y="9104"/>
                  <a:pt x="340" y="13856"/>
                </a:cubicBezTo>
                <a:cubicBezTo>
                  <a:pt x="1285" y="18569"/>
                  <a:pt x="12465" y="13748"/>
                  <a:pt x="13985" y="918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96" name="Google Shape;296;p43"/>
          <p:cNvSpPr/>
          <p:nvPr/>
        </p:nvSpPr>
        <p:spPr>
          <a:xfrm>
            <a:off x="268550" y="3655900"/>
            <a:ext cx="373050" cy="293740"/>
          </a:xfrm>
          <a:custGeom>
            <a:rect b="b" l="l" r="r" t="t"/>
            <a:pathLst>
              <a:path extrusionOk="0" h="15895" w="14922">
                <a:moveTo>
                  <a:pt x="14703" y="9188"/>
                </a:moveTo>
                <a:cubicBezTo>
                  <a:pt x="16068" y="5093"/>
                  <a:pt x="9600" y="-635"/>
                  <a:pt x="5367" y="212"/>
                </a:cubicBezTo>
                <a:cubicBezTo>
                  <a:pt x="614" y="1163"/>
                  <a:pt x="-613" y="9104"/>
                  <a:pt x="340" y="13856"/>
                </a:cubicBezTo>
                <a:cubicBezTo>
                  <a:pt x="1285" y="18569"/>
                  <a:pt x="12465" y="13748"/>
                  <a:pt x="13985" y="918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297" name="Google Shape;297;p43"/>
          <p:cNvCxnSpPr/>
          <p:nvPr/>
        </p:nvCxnSpPr>
        <p:spPr>
          <a:xfrm flipH="1" rot="10800000">
            <a:off x="574500" y="1139950"/>
            <a:ext cx="7728600" cy="4758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98" name="Google Shape;298;p43"/>
          <p:cNvCxnSpPr/>
          <p:nvPr/>
        </p:nvCxnSpPr>
        <p:spPr>
          <a:xfrm>
            <a:off x="673225" y="1983800"/>
            <a:ext cx="5816700" cy="90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99" name="Google Shape;299;p43"/>
          <p:cNvCxnSpPr/>
          <p:nvPr/>
        </p:nvCxnSpPr>
        <p:spPr>
          <a:xfrm>
            <a:off x="670900" y="3453850"/>
            <a:ext cx="6815400" cy="4509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43"/>
          <p:cNvCxnSpPr/>
          <p:nvPr/>
        </p:nvCxnSpPr>
        <p:spPr>
          <a:xfrm>
            <a:off x="662600" y="3014875"/>
            <a:ext cx="7290600" cy="1269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1" name="Google Shape;301;p43"/>
          <p:cNvCxnSpPr/>
          <p:nvPr/>
        </p:nvCxnSpPr>
        <p:spPr>
          <a:xfrm>
            <a:off x="592450" y="3859875"/>
            <a:ext cx="5888700" cy="7182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02" name="Google Shape;302;p43"/>
          <p:cNvSpPr/>
          <p:nvPr/>
        </p:nvSpPr>
        <p:spPr>
          <a:xfrm>
            <a:off x="311700" y="2182700"/>
            <a:ext cx="675705" cy="298389"/>
          </a:xfrm>
          <a:custGeom>
            <a:rect b="b" l="l" r="r" t="t"/>
            <a:pathLst>
              <a:path extrusionOk="0" h="15895" w="14922">
                <a:moveTo>
                  <a:pt x="14703" y="9188"/>
                </a:moveTo>
                <a:cubicBezTo>
                  <a:pt x="16068" y="5093"/>
                  <a:pt x="9600" y="-635"/>
                  <a:pt x="5367" y="212"/>
                </a:cubicBezTo>
                <a:cubicBezTo>
                  <a:pt x="614" y="1163"/>
                  <a:pt x="-613" y="9104"/>
                  <a:pt x="340" y="13856"/>
                </a:cubicBezTo>
                <a:cubicBezTo>
                  <a:pt x="1285" y="18569"/>
                  <a:pt x="12465" y="13748"/>
                  <a:pt x="13985" y="918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03" name="Google Shape;303;p43"/>
          <p:cNvSpPr/>
          <p:nvPr/>
        </p:nvSpPr>
        <p:spPr>
          <a:xfrm>
            <a:off x="311700" y="2522250"/>
            <a:ext cx="675705" cy="298389"/>
          </a:xfrm>
          <a:custGeom>
            <a:rect b="b" l="l" r="r" t="t"/>
            <a:pathLst>
              <a:path extrusionOk="0" h="15895" w="14922">
                <a:moveTo>
                  <a:pt x="14703" y="9188"/>
                </a:moveTo>
                <a:cubicBezTo>
                  <a:pt x="16068" y="5093"/>
                  <a:pt x="9600" y="-635"/>
                  <a:pt x="5367" y="212"/>
                </a:cubicBezTo>
                <a:cubicBezTo>
                  <a:pt x="614" y="1163"/>
                  <a:pt x="-613" y="9104"/>
                  <a:pt x="340" y="13856"/>
                </a:cubicBezTo>
                <a:cubicBezTo>
                  <a:pt x="1285" y="18569"/>
                  <a:pt x="12465" y="13748"/>
                  <a:pt x="13985" y="918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04" name="Google Shape;304;p43"/>
          <p:cNvSpPr/>
          <p:nvPr/>
        </p:nvSpPr>
        <p:spPr>
          <a:xfrm>
            <a:off x="311700" y="2907302"/>
            <a:ext cx="373050" cy="293740"/>
          </a:xfrm>
          <a:custGeom>
            <a:rect b="b" l="l" r="r" t="t"/>
            <a:pathLst>
              <a:path extrusionOk="0" h="15895" w="14922">
                <a:moveTo>
                  <a:pt x="14703" y="9188"/>
                </a:moveTo>
                <a:cubicBezTo>
                  <a:pt x="16068" y="5093"/>
                  <a:pt x="9600" y="-635"/>
                  <a:pt x="5367" y="212"/>
                </a:cubicBezTo>
                <a:cubicBezTo>
                  <a:pt x="614" y="1163"/>
                  <a:pt x="-613" y="9104"/>
                  <a:pt x="340" y="13856"/>
                </a:cubicBezTo>
                <a:cubicBezTo>
                  <a:pt x="1285" y="18569"/>
                  <a:pt x="12465" y="13748"/>
                  <a:pt x="13985" y="918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305" name="Google Shape;305;p43"/>
          <p:cNvCxnSpPr/>
          <p:nvPr/>
        </p:nvCxnSpPr>
        <p:spPr>
          <a:xfrm flipH="1" rot="10800000">
            <a:off x="978425" y="2244150"/>
            <a:ext cx="5493600" cy="987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6" name="Google Shape;306;p43"/>
          <p:cNvCxnSpPr/>
          <p:nvPr/>
        </p:nvCxnSpPr>
        <p:spPr>
          <a:xfrm flipH="1" rot="10800000">
            <a:off x="978425" y="2468625"/>
            <a:ext cx="5493600" cy="1884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07" name="Google Shape;307;p43"/>
          <p:cNvSpPr txBox="1"/>
          <p:nvPr/>
        </p:nvSpPr>
        <p:spPr>
          <a:xfrm>
            <a:off x="291125" y="4581575"/>
            <a:ext cx="7929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</a:pPr>
            <a:r>
              <a:rPr lang="en">
                <a:solidFill>
                  <a:schemeClr val="accent2"/>
                </a:solidFill>
              </a:rPr>
              <a:t>Simulation done at tt, 27,Iload at 1.1 mA and load capacitor at 1uF</a:t>
            </a:r>
            <a:endParaRPr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44"/>
          <p:cNvSpPr txBox="1"/>
          <p:nvPr>
            <p:ph type="title"/>
          </p:nvPr>
        </p:nvSpPr>
        <p:spPr>
          <a:xfrm>
            <a:off x="311700" y="2655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 Transient - PVT(</a:t>
            </a:r>
            <a:r>
              <a:rPr lang="en"/>
              <a:t>with Iload of 0 and 1.1 mA)</a:t>
            </a:r>
            <a:endParaRPr/>
          </a:p>
        </p:txBody>
      </p:sp>
      <p:pic>
        <p:nvPicPr>
          <p:cNvPr id="313" name="Google Shape;313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4825" y="800100"/>
            <a:ext cx="7205875" cy="3382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23549" y="4235725"/>
            <a:ext cx="6149917" cy="57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5"/>
          <p:cNvSpPr txBox="1"/>
          <p:nvPr>
            <p:ph type="title"/>
          </p:nvPr>
        </p:nvSpPr>
        <p:spPr>
          <a:xfrm>
            <a:off x="311700" y="2793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Mismatch</a:t>
            </a:r>
            <a:endParaRPr/>
          </a:p>
        </p:txBody>
      </p:sp>
      <p:pic>
        <p:nvPicPr>
          <p:cNvPr id="320" name="Google Shape;320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025" y="1070725"/>
            <a:ext cx="7265951" cy="3526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46"/>
          <p:cNvSpPr txBox="1"/>
          <p:nvPr>
            <p:ph type="title"/>
          </p:nvPr>
        </p:nvSpPr>
        <p:spPr>
          <a:xfrm>
            <a:off x="369500" y="144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Monte Carlo Simulation</a:t>
            </a:r>
            <a:endParaRPr/>
          </a:p>
        </p:txBody>
      </p:sp>
      <p:sp>
        <p:nvSpPr>
          <p:cNvPr id="326" name="Google Shape;326;p46"/>
          <p:cNvSpPr txBox="1"/>
          <p:nvPr/>
        </p:nvSpPr>
        <p:spPr>
          <a:xfrm>
            <a:off x="492150" y="717225"/>
            <a:ext cx="81597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Simulation done at 1.7V VDD, 1.1mA load current, 1uF load capacitor and 27</a:t>
            </a:r>
            <a:r>
              <a:rPr lang="en" sz="1600">
                <a:solidFill>
                  <a:schemeClr val="dk1"/>
                </a:solidFill>
              </a:rPr>
              <a:t>℃</a:t>
            </a:r>
            <a:r>
              <a:rPr lang="en">
                <a:solidFill>
                  <a:schemeClr val="dk1"/>
                </a:solidFill>
              </a:rPr>
              <a:t> Temperature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>
                <a:solidFill>
                  <a:schemeClr val="dk1"/>
                </a:solidFill>
              </a:rPr>
              <a:t>The standard deviation is 18.1692mV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327" name="Google Shape;327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1925" y="1442325"/>
            <a:ext cx="7138699" cy="33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47"/>
          <p:cNvSpPr txBox="1"/>
          <p:nvPr>
            <p:ph type="title"/>
          </p:nvPr>
        </p:nvSpPr>
        <p:spPr>
          <a:xfrm>
            <a:off x="311700" y="2285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3620"/>
              <a:t>Thank you</a:t>
            </a:r>
            <a:endParaRPr b="1" sz="362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